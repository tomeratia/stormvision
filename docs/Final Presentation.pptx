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orwester" charset="1" panose="00000506000000000000"/>
      <p:regular r:id="rId13"/>
    </p:embeddedFont>
    <p:embeddedFont>
      <p:font typeface="Arimo Bold" charset="1" panose="020B0704020202020204"/>
      <p:regular r:id="rId14"/>
    </p:embeddedFont>
    <p:embeddedFont>
      <p:font typeface="Alef" charset="1" panose="00000500000000000000"/>
      <p:regular r:id="rId15"/>
    </p:embeddedFont>
    <p:embeddedFont>
      <p:font typeface="Alef Bold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0" r="-922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90878" y="1666858"/>
            <a:ext cx="9814169" cy="2450157"/>
            <a:chOff x="0" y="0"/>
            <a:chExt cx="4072079" cy="10166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72079" cy="1016615"/>
            </a:xfrm>
            <a:custGeom>
              <a:avLst/>
              <a:gdLst/>
              <a:ahLst/>
              <a:cxnLst/>
              <a:rect r="r" b="b" t="t" l="l"/>
              <a:pathLst>
                <a:path h="1016615" w="4072079">
                  <a:moveTo>
                    <a:pt x="40231" y="0"/>
                  </a:moveTo>
                  <a:lnTo>
                    <a:pt x="4031848" y="0"/>
                  </a:lnTo>
                  <a:cubicBezTo>
                    <a:pt x="4042518" y="0"/>
                    <a:pt x="4052751" y="4239"/>
                    <a:pt x="4060296" y="11784"/>
                  </a:cubicBezTo>
                  <a:cubicBezTo>
                    <a:pt x="4067840" y="19328"/>
                    <a:pt x="4072079" y="29561"/>
                    <a:pt x="4072079" y="40231"/>
                  </a:cubicBezTo>
                  <a:lnTo>
                    <a:pt x="4072079" y="976384"/>
                  </a:lnTo>
                  <a:cubicBezTo>
                    <a:pt x="4072079" y="998603"/>
                    <a:pt x="4054067" y="1016615"/>
                    <a:pt x="4031848" y="1016615"/>
                  </a:cubicBezTo>
                  <a:lnTo>
                    <a:pt x="40231" y="1016615"/>
                  </a:lnTo>
                  <a:cubicBezTo>
                    <a:pt x="18012" y="1016615"/>
                    <a:pt x="0" y="998603"/>
                    <a:pt x="0" y="976384"/>
                  </a:cubicBezTo>
                  <a:lnTo>
                    <a:pt x="0" y="40231"/>
                  </a:lnTo>
                  <a:cubicBezTo>
                    <a:pt x="0" y="18012"/>
                    <a:pt x="18012" y="0"/>
                    <a:pt x="40231" y="0"/>
                  </a:cubicBezTo>
                  <a:close/>
                </a:path>
              </a:pathLst>
            </a:custGeom>
            <a:solidFill>
              <a:srgbClr val="F8F6F7">
                <a:alpha val="50980"/>
              </a:srgbClr>
            </a:solidFill>
            <a:ln w="19050" cap="rnd">
              <a:solidFill>
                <a:srgbClr val="FFFFFF">
                  <a:alpha val="5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4072079" cy="930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519332" y="1876995"/>
            <a:ext cx="9557262" cy="1890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54"/>
              </a:lnSpc>
            </a:pPr>
            <a:r>
              <a:rPr lang="en-US" sz="14154">
                <a:solidFill>
                  <a:srgbClr val="3C7886"/>
                </a:solidFill>
                <a:latin typeface="Norwester"/>
                <a:ea typeface="Norwester"/>
                <a:cs typeface="Norwester"/>
                <a:sym typeface="Norwester"/>
              </a:rPr>
              <a:t>STORMVISION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290677" y="4270011"/>
            <a:ext cx="8015017" cy="1061349"/>
            <a:chOff x="0" y="0"/>
            <a:chExt cx="3493965" cy="4626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3965" cy="462671"/>
            </a:xfrm>
            <a:custGeom>
              <a:avLst/>
              <a:gdLst/>
              <a:ahLst/>
              <a:cxnLst/>
              <a:rect r="r" b="b" t="t" l="l"/>
              <a:pathLst>
                <a:path h="462671" w="3493965">
                  <a:moveTo>
                    <a:pt x="49262" y="0"/>
                  </a:moveTo>
                  <a:lnTo>
                    <a:pt x="3444703" y="0"/>
                  </a:lnTo>
                  <a:cubicBezTo>
                    <a:pt x="3457768" y="0"/>
                    <a:pt x="3470298" y="5190"/>
                    <a:pt x="3479536" y="14429"/>
                  </a:cubicBezTo>
                  <a:cubicBezTo>
                    <a:pt x="3488775" y="23667"/>
                    <a:pt x="3493965" y="36197"/>
                    <a:pt x="3493965" y="49262"/>
                  </a:cubicBezTo>
                  <a:lnTo>
                    <a:pt x="3493965" y="413409"/>
                  </a:lnTo>
                  <a:cubicBezTo>
                    <a:pt x="3493965" y="426474"/>
                    <a:pt x="3488775" y="439004"/>
                    <a:pt x="3479536" y="448242"/>
                  </a:cubicBezTo>
                  <a:cubicBezTo>
                    <a:pt x="3470298" y="457481"/>
                    <a:pt x="3457768" y="462671"/>
                    <a:pt x="3444703" y="462671"/>
                  </a:cubicBezTo>
                  <a:lnTo>
                    <a:pt x="49262" y="462671"/>
                  </a:lnTo>
                  <a:cubicBezTo>
                    <a:pt x="22055" y="462671"/>
                    <a:pt x="0" y="440615"/>
                    <a:pt x="0" y="413409"/>
                  </a:cubicBezTo>
                  <a:lnTo>
                    <a:pt x="0" y="49262"/>
                  </a:lnTo>
                  <a:cubicBezTo>
                    <a:pt x="0" y="36197"/>
                    <a:pt x="5190" y="23667"/>
                    <a:pt x="14429" y="14429"/>
                  </a:cubicBezTo>
                  <a:cubicBezTo>
                    <a:pt x="23667" y="5190"/>
                    <a:pt x="36197" y="0"/>
                    <a:pt x="49262" y="0"/>
                  </a:cubicBezTo>
                  <a:close/>
                </a:path>
              </a:pathLst>
            </a:custGeom>
            <a:solidFill>
              <a:srgbClr val="F8F6F7">
                <a:alpha val="50980"/>
              </a:srgbClr>
            </a:solidFill>
            <a:ln w="19050" cap="rnd">
              <a:solidFill>
                <a:srgbClr val="FFFFFF">
                  <a:alpha val="50980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3493965" cy="376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857640" y="3484417"/>
            <a:ext cx="8880645" cy="49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11"/>
              </a:lnSpc>
              <a:spcBef>
                <a:spcPct val="0"/>
              </a:spcBef>
            </a:pPr>
            <a:r>
              <a:rPr lang="en-US" sz="2865" strike="noStrike" u="none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Presenter: Tomer Atia, shalev cohen, Noam hadad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0768" y="4399787"/>
            <a:ext cx="8494389" cy="131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1"/>
              </a:lnSpc>
            </a:pPr>
            <a:r>
              <a:rPr lang="en-US" sz="2536">
                <a:solidFill>
                  <a:srgbClr val="000000"/>
                </a:solidFill>
                <a:latin typeface="Norwester"/>
                <a:ea typeface="Norwester"/>
                <a:cs typeface="Norwester"/>
                <a:sym typeface="Norwester"/>
              </a:rPr>
              <a:t>Maritime Object Detection from Aerial Drone Imagery in Stormy Conditions using Synthetic Data Augmentation</a:t>
            </a:r>
          </a:p>
          <a:p>
            <a:pPr algn="ctr" marL="0" indent="0" lvl="0">
              <a:lnSpc>
                <a:spcPts val="3551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79597" y="6542222"/>
            <a:ext cx="8273665" cy="2716078"/>
          </a:xfrm>
          <a:custGeom>
            <a:avLst/>
            <a:gdLst/>
            <a:ahLst/>
            <a:cxnLst/>
            <a:rect r="r" b="b" t="t" l="l"/>
            <a:pathLst>
              <a:path h="2716078" w="8273665">
                <a:moveTo>
                  <a:pt x="0" y="0"/>
                </a:moveTo>
                <a:lnTo>
                  <a:pt x="8273664" y="0"/>
                </a:lnTo>
                <a:lnTo>
                  <a:pt x="8273664" y="2716078"/>
                </a:lnTo>
                <a:lnTo>
                  <a:pt x="0" y="27160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8503" r="0" b="-2444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03612" y="6542222"/>
            <a:ext cx="8084388" cy="2716078"/>
          </a:xfrm>
          <a:custGeom>
            <a:avLst/>
            <a:gdLst/>
            <a:ahLst/>
            <a:cxnLst/>
            <a:rect r="r" b="b" t="t" l="l"/>
            <a:pathLst>
              <a:path h="2716078" w="8084388">
                <a:moveTo>
                  <a:pt x="0" y="0"/>
                </a:moveTo>
                <a:lnTo>
                  <a:pt x="8084388" y="0"/>
                </a:lnTo>
                <a:lnTo>
                  <a:pt x="8084388" y="2716078"/>
                </a:lnTo>
                <a:lnTo>
                  <a:pt x="0" y="27160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81196" r="0" b="-17112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-5400000">
            <a:off x="8955396" y="7706132"/>
            <a:ext cx="569290" cy="388258"/>
            <a:chOff x="0" y="0"/>
            <a:chExt cx="2771140" cy="18899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20452" y="5783318"/>
            <a:ext cx="445070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SYNTHETIC IMAGE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76571" y="5824148"/>
            <a:ext cx="3092711" cy="49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5"/>
              </a:lnSpc>
              <a:spcBef>
                <a:spcPct val="0"/>
              </a:spcBef>
            </a:pPr>
            <a:r>
              <a:rPr lang="en-US" b="true" sz="2732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O</a:t>
            </a:r>
            <a:r>
              <a:rPr lang="en-US" b="true" sz="2732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RIGINAL I</a:t>
            </a:r>
            <a:r>
              <a:rPr lang="en-US" b="true" sz="2732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MAGE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9222" t="0" r="-922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941212" y="5791451"/>
            <a:ext cx="7428649" cy="2250932"/>
            <a:chOff x="0" y="0"/>
            <a:chExt cx="2796163" cy="8472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6163" cy="847257"/>
            </a:xfrm>
            <a:custGeom>
              <a:avLst/>
              <a:gdLst/>
              <a:ahLst/>
              <a:cxnLst/>
              <a:rect r="r" b="b" t="t" l="l"/>
              <a:pathLst>
                <a:path h="847257" w="2796163">
                  <a:moveTo>
                    <a:pt x="21886" y="0"/>
                  </a:moveTo>
                  <a:lnTo>
                    <a:pt x="2774278" y="0"/>
                  </a:lnTo>
                  <a:cubicBezTo>
                    <a:pt x="2786365" y="0"/>
                    <a:pt x="2796163" y="9799"/>
                    <a:pt x="2796163" y="21886"/>
                  </a:cubicBezTo>
                  <a:lnTo>
                    <a:pt x="2796163" y="825371"/>
                  </a:lnTo>
                  <a:cubicBezTo>
                    <a:pt x="2796163" y="831176"/>
                    <a:pt x="2793857" y="836742"/>
                    <a:pt x="2789753" y="840847"/>
                  </a:cubicBezTo>
                  <a:cubicBezTo>
                    <a:pt x="2785649" y="844951"/>
                    <a:pt x="2780082" y="847257"/>
                    <a:pt x="2774278" y="847257"/>
                  </a:cubicBezTo>
                  <a:lnTo>
                    <a:pt x="21886" y="847257"/>
                  </a:lnTo>
                  <a:cubicBezTo>
                    <a:pt x="9799" y="847257"/>
                    <a:pt x="0" y="837458"/>
                    <a:pt x="0" y="825371"/>
                  </a:cubicBezTo>
                  <a:lnTo>
                    <a:pt x="0" y="21886"/>
                  </a:lnTo>
                  <a:cubicBezTo>
                    <a:pt x="0" y="9799"/>
                    <a:pt x="9799" y="0"/>
                    <a:pt x="21886" y="0"/>
                  </a:cubicBezTo>
                  <a:close/>
                </a:path>
              </a:pathLst>
            </a:custGeom>
            <a:solidFill>
              <a:srgbClr val="FDFDFD">
                <a:alpha val="20784"/>
              </a:srgbClr>
            </a:solidFill>
            <a:ln w="19050" cap="rnd">
              <a:solidFill>
                <a:srgbClr val="FFFFFF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2796163" cy="77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901167" y="5791451"/>
            <a:ext cx="5507491" cy="2250932"/>
            <a:chOff x="0" y="0"/>
            <a:chExt cx="2073034" cy="8472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3034" cy="847257"/>
            </a:xfrm>
            <a:custGeom>
              <a:avLst/>
              <a:gdLst/>
              <a:ahLst/>
              <a:cxnLst/>
              <a:rect r="r" b="b" t="t" l="l"/>
              <a:pathLst>
                <a:path h="847257" w="2073034">
                  <a:moveTo>
                    <a:pt x="29520" y="0"/>
                  </a:moveTo>
                  <a:lnTo>
                    <a:pt x="2043514" y="0"/>
                  </a:lnTo>
                  <a:cubicBezTo>
                    <a:pt x="2051343" y="0"/>
                    <a:pt x="2058852" y="3110"/>
                    <a:pt x="2064388" y="8646"/>
                  </a:cubicBezTo>
                  <a:cubicBezTo>
                    <a:pt x="2069924" y="14182"/>
                    <a:pt x="2073034" y="21691"/>
                    <a:pt x="2073034" y="29520"/>
                  </a:cubicBezTo>
                  <a:lnTo>
                    <a:pt x="2073034" y="817737"/>
                  </a:lnTo>
                  <a:cubicBezTo>
                    <a:pt x="2073034" y="834040"/>
                    <a:pt x="2059818" y="847257"/>
                    <a:pt x="2043514" y="847257"/>
                  </a:cubicBezTo>
                  <a:lnTo>
                    <a:pt x="29520" y="847257"/>
                  </a:lnTo>
                  <a:cubicBezTo>
                    <a:pt x="13216" y="847257"/>
                    <a:pt x="0" y="834040"/>
                    <a:pt x="0" y="817737"/>
                  </a:cubicBezTo>
                  <a:lnTo>
                    <a:pt x="0" y="29520"/>
                  </a:lnTo>
                  <a:cubicBezTo>
                    <a:pt x="0" y="13216"/>
                    <a:pt x="13216" y="0"/>
                    <a:pt x="29520" y="0"/>
                  </a:cubicBezTo>
                  <a:close/>
                </a:path>
              </a:pathLst>
            </a:custGeom>
            <a:solidFill>
              <a:srgbClr val="FDFDFD">
                <a:alpha val="20784"/>
              </a:srgbClr>
            </a:solidFill>
            <a:ln w="19050" cap="rnd">
              <a:solidFill>
                <a:srgbClr val="FDFDFD">
                  <a:alpha val="20784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2073034" cy="7710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7890290" y="6722788"/>
            <a:ext cx="569290" cy="388258"/>
            <a:chOff x="0" y="0"/>
            <a:chExt cx="2771140" cy="18899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841857" y="428625"/>
            <a:ext cx="1291381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Review &amp; Refined Project</a:t>
            </a:r>
            <a:r>
              <a:rPr lang="en-US" b="true" sz="6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Definition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85903" y="5125971"/>
            <a:ext cx="3138019" cy="66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5320"/>
              </a:lnSpc>
              <a:spcBef>
                <a:spcPct val="0"/>
              </a:spcBef>
            </a:pP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24405" y="5048250"/>
            <a:ext cx="3479234" cy="66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5320"/>
              </a:lnSpc>
              <a:spcBef>
                <a:spcPct val="0"/>
              </a:spcBef>
            </a:pP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OUTPUT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0" y="1835449"/>
            <a:ext cx="17570011" cy="363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D166"/>
                </a:solidFill>
                <a:latin typeface="Alef"/>
                <a:ea typeface="Alef"/>
                <a:cs typeface="Alef"/>
                <a:sym typeface="Alef"/>
              </a:rPr>
              <a:t>Maritime search-and-resc</a:t>
            </a:r>
            <a:r>
              <a:rPr lang="en-US" sz="2600">
                <a:solidFill>
                  <a:srgbClr val="FFD166"/>
                </a:solidFill>
                <a:latin typeface="Alef"/>
                <a:ea typeface="Alef"/>
                <a:cs typeface="Alef"/>
                <a:sym typeface="Alef"/>
              </a:rPr>
              <a:t>ue operations rely heavily on drone-based detection of swimmers, boats, and other small objects.</a:t>
            </a:r>
          </a:p>
          <a:p>
            <a:pPr algn="ctr">
              <a:lnSpc>
                <a:spcPts val="3640"/>
              </a:lnSpc>
            </a:pPr>
          </a:p>
          <a:p>
            <a:pPr algn="ctr">
              <a:lnSpc>
                <a:spcPts val="3640"/>
              </a:lnSpc>
            </a:pPr>
            <a:r>
              <a:rPr lang="en-US" sz="2600" u="sng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The Data Gap: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D166"/>
                </a:solidFill>
                <a:latin typeface="Alef"/>
                <a:ea typeface="Alef"/>
                <a:cs typeface="Alef"/>
                <a:sym typeface="Alef"/>
              </a:rPr>
              <a:t>There is currently NO publicly available labeled dataset of aerial drone footage capturing maritime objects in stormy sea conditions.</a:t>
            </a:r>
          </a:p>
          <a:p>
            <a:pPr algn="ctr">
              <a:lnSpc>
                <a:spcPts val="3640"/>
              </a:lnSpc>
            </a:pPr>
          </a:p>
          <a:p>
            <a:pPr algn="ctr">
              <a:lnSpc>
                <a:spcPts val="364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5987912"/>
            <a:ext cx="7134131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Detection: B</a:t>
            </a:r>
            <a:r>
              <a:rPr lang="en-US" sz="2600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ounding boxes for 5 object classes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32435" y="7048567"/>
            <a:ext cx="7245695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Trained Model: YOLOv8s</a:t>
            </a:r>
            <a:r>
              <a:rPr lang="en-US" sz="2600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 robust to stormy conditions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06330" y="5987912"/>
            <a:ext cx="4897164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C</a:t>
            </a:r>
            <a:r>
              <a:rPr lang="en-US" sz="2600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alm-sea drone images with COCO annotations</a:t>
            </a:r>
          </a:p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SeaDronesSee Dataset: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01167" y="7314949"/>
            <a:ext cx="5413999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8,262</a:t>
            </a:r>
            <a:r>
              <a:rPr lang="en-US" sz="2199" strike="noStrike" u="none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 train | 1,547 test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85064" y="6510711"/>
            <a:ext cx="7340945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swimmer</a:t>
            </a:r>
            <a:r>
              <a:rPr lang="en-US" sz="2199" strike="noStrike" u="none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 | boat | jetski | life_sa</a:t>
            </a:r>
            <a:r>
              <a:rPr lang="en-US" sz="2199" strike="noStrike" u="none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v</a:t>
            </a:r>
            <a:r>
              <a:rPr lang="en-US" sz="2199" strike="noStrike" u="none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in</a:t>
            </a:r>
            <a:r>
              <a:rPr lang="en-US" sz="2199" strike="noStrike" u="none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g_appliances</a:t>
            </a:r>
            <a:r>
              <a:rPr lang="en-US" sz="2199" strike="noStrike" u="none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 | buo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76240">
            <a:off x="3798991" y="-4112312"/>
            <a:ext cx="10690019" cy="18511624"/>
          </a:xfrm>
          <a:custGeom>
            <a:avLst/>
            <a:gdLst/>
            <a:ahLst/>
            <a:cxnLst/>
            <a:rect r="r" b="b" t="t" l="l"/>
            <a:pathLst>
              <a:path h="18511624" w="10690019">
                <a:moveTo>
                  <a:pt x="405548" y="18511624"/>
                </a:moveTo>
                <a:lnTo>
                  <a:pt x="0" y="228121"/>
                </a:lnTo>
                <a:lnTo>
                  <a:pt x="10284470" y="0"/>
                </a:lnTo>
                <a:lnTo>
                  <a:pt x="10690018" y="18283503"/>
                </a:lnTo>
                <a:lnTo>
                  <a:pt x="405548" y="18511624"/>
                </a:lnTo>
                <a:close/>
              </a:path>
            </a:pathLst>
          </a:custGeom>
          <a:blipFill>
            <a:blip r:embed="rId2"/>
            <a:stretch>
              <a:fillRect l="-7686" t="0" r="-768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80108" y="6697986"/>
            <a:ext cx="1682955" cy="2268689"/>
          </a:xfrm>
          <a:custGeom>
            <a:avLst/>
            <a:gdLst/>
            <a:ahLst/>
            <a:cxnLst/>
            <a:rect r="r" b="b" t="t" l="l"/>
            <a:pathLst>
              <a:path h="2268689" w="1682955">
                <a:moveTo>
                  <a:pt x="0" y="0"/>
                </a:moveTo>
                <a:lnTo>
                  <a:pt x="1682955" y="0"/>
                </a:lnTo>
                <a:lnTo>
                  <a:pt x="1682955" y="2268689"/>
                </a:lnTo>
                <a:lnTo>
                  <a:pt x="0" y="2268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96768" y="1894491"/>
            <a:ext cx="13563845" cy="4534266"/>
            <a:chOff x="0" y="0"/>
            <a:chExt cx="5105467" cy="1706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05467" cy="1706710"/>
            </a:xfrm>
            <a:custGeom>
              <a:avLst/>
              <a:gdLst/>
              <a:ahLst/>
              <a:cxnLst/>
              <a:rect r="r" b="b" t="t" l="l"/>
              <a:pathLst>
                <a:path h="1706710" w="5105467">
                  <a:moveTo>
                    <a:pt x="29110" y="0"/>
                  </a:moveTo>
                  <a:lnTo>
                    <a:pt x="5076358" y="0"/>
                  </a:lnTo>
                  <a:cubicBezTo>
                    <a:pt x="5092434" y="0"/>
                    <a:pt x="5105467" y="13033"/>
                    <a:pt x="5105467" y="29110"/>
                  </a:cubicBezTo>
                  <a:lnTo>
                    <a:pt x="5105467" y="1677600"/>
                  </a:lnTo>
                  <a:cubicBezTo>
                    <a:pt x="5105467" y="1693677"/>
                    <a:pt x="5092434" y="1706710"/>
                    <a:pt x="5076358" y="1706710"/>
                  </a:cubicBezTo>
                  <a:lnTo>
                    <a:pt x="29110" y="1706710"/>
                  </a:lnTo>
                  <a:cubicBezTo>
                    <a:pt x="13033" y="1706710"/>
                    <a:pt x="0" y="1693677"/>
                    <a:pt x="0" y="1677600"/>
                  </a:cubicBezTo>
                  <a:lnTo>
                    <a:pt x="0" y="29110"/>
                  </a:lnTo>
                  <a:cubicBezTo>
                    <a:pt x="0" y="13033"/>
                    <a:pt x="13033" y="0"/>
                    <a:pt x="29110" y="0"/>
                  </a:cubicBezTo>
                  <a:close/>
                </a:path>
              </a:pathLst>
            </a:custGeom>
            <a:solidFill>
              <a:srgbClr val="131B1F">
                <a:alpha val="81961"/>
              </a:srgbClr>
            </a:solidFill>
            <a:ln w="19050" cap="rnd">
              <a:solidFill>
                <a:srgbClr val="FFFFFF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76200"/>
              <a:ext cx="5105467" cy="16305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11822" y="428625"/>
            <a:ext cx="1246435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</a:t>
            </a:r>
            <a:r>
              <a:rPr lang="en-US" b="true" sz="60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roject </a:t>
            </a:r>
            <a:r>
              <a:rPr lang="en-US" b="true" sz="60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  <a:r>
              <a:rPr lang="en-US" b="true" sz="60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chievements and </a:t>
            </a:r>
            <a:r>
              <a:rPr lang="en-US" b="true" sz="60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</a:t>
            </a:r>
            <a:r>
              <a:rPr lang="en-US" b="true" sz="60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ovelty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33646" y="2740596"/>
            <a:ext cx="12897464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nd-to-end pipeline 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f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or 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ma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ritime obj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ct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 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d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t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ecti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on under adve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r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se we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at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h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er conditions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Synth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etic stormy background generation pipeline: </a:t>
            </a:r>
          </a:p>
          <a:p>
            <a:pPr algn="ctr">
              <a:lnSpc>
                <a:spcPts val="3079"/>
              </a:lnSpc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Image → masks+depth map → SDXL Inpaint+ControlNet → Composite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Controlled comparison: COCO Pretrained vs Real-Only vs Real+Synthetic (Mixed)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33646" y="4215797"/>
            <a:ext cx="4028025" cy="66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DELIV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ER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ABLE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3646" y="2113216"/>
            <a:ext cx="7935260" cy="66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PROJ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ACH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EVEMENT</a:t>
            </a:r>
            <a:r>
              <a:rPr lang="en-US" b="true" sz="3800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726826" y="7517136"/>
            <a:ext cx="12550446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The project's novelty lies in generating synthetic stormy sea backgrounds while perfectly preserving original objects, addressing the critical data gap in maritime SAR.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33646" y="4843177"/>
            <a:ext cx="12642532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Robust YOLO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v8 detector for stormy maritime conditions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5,678 synthetic images of stormy seas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Compre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hensive evaluation on 3 test sets (Real, Synthetic, Mixed)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76240">
            <a:off x="3798991" y="-4112312"/>
            <a:ext cx="10690019" cy="18511624"/>
          </a:xfrm>
          <a:custGeom>
            <a:avLst/>
            <a:gdLst/>
            <a:ahLst/>
            <a:cxnLst/>
            <a:rect r="r" b="b" t="t" l="l"/>
            <a:pathLst>
              <a:path h="18511624" w="10690019">
                <a:moveTo>
                  <a:pt x="405548" y="18511624"/>
                </a:moveTo>
                <a:lnTo>
                  <a:pt x="0" y="228121"/>
                </a:lnTo>
                <a:lnTo>
                  <a:pt x="10284470" y="0"/>
                </a:lnTo>
                <a:lnTo>
                  <a:pt x="10690018" y="18283503"/>
                </a:lnTo>
                <a:lnTo>
                  <a:pt x="405548" y="18511624"/>
                </a:lnTo>
                <a:close/>
              </a:path>
            </a:pathLst>
          </a:custGeom>
          <a:blipFill>
            <a:blip r:embed="rId2"/>
            <a:stretch>
              <a:fillRect l="-7686" t="0" r="-768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0411" y="249122"/>
            <a:ext cx="10197330" cy="4894378"/>
            <a:chOff x="0" y="0"/>
            <a:chExt cx="4412994" cy="21180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12994" cy="2118090"/>
            </a:xfrm>
            <a:custGeom>
              <a:avLst/>
              <a:gdLst/>
              <a:ahLst/>
              <a:cxnLst/>
              <a:rect r="r" b="b" t="t" l="l"/>
              <a:pathLst>
                <a:path h="2118090" w="4412994">
                  <a:moveTo>
                    <a:pt x="38720" y="0"/>
                  </a:moveTo>
                  <a:lnTo>
                    <a:pt x="4374274" y="0"/>
                  </a:lnTo>
                  <a:cubicBezTo>
                    <a:pt x="4384544" y="0"/>
                    <a:pt x="4394392" y="4079"/>
                    <a:pt x="4401653" y="11341"/>
                  </a:cubicBezTo>
                  <a:cubicBezTo>
                    <a:pt x="4408915" y="18602"/>
                    <a:pt x="4412994" y="28451"/>
                    <a:pt x="4412994" y="38720"/>
                  </a:cubicBezTo>
                  <a:lnTo>
                    <a:pt x="4412994" y="2079370"/>
                  </a:lnTo>
                  <a:cubicBezTo>
                    <a:pt x="4412994" y="2100755"/>
                    <a:pt x="4395659" y="2118090"/>
                    <a:pt x="4374274" y="2118090"/>
                  </a:cubicBezTo>
                  <a:lnTo>
                    <a:pt x="38720" y="2118090"/>
                  </a:lnTo>
                  <a:cubicBezTo>
                    <a:pt x="17335" y="2118090"/>
                    <a:pt x="0" y="2100755"/>
                    <a:pt x="0" y="2079370"/>
                  </a:cubicBezTo>
                  <a:lnTo>
                    <a:pt x="0" y="38720"/>
                  </a:lnTo>
                  <a:cubicBezTo>
                    <a:pt x="0" y="17335"/>
                    <a:pt x="17335" y="0"/>
                    <a:pt x="38720" y="0"/>
                  </a:cubicBezTo>
                  <a:close/>
                </a:path>
              </a:pathLst>
            </a:custGeom>
            <a:solidFill>
              <a:srgbClr val="131B1F">
                <a:alpha val="81961"/>
              </a:srgbClr>
            </a:solidFill>
            <a:ln w="19050" cap="rnd">
              <a:solidFill>
                <a:srgbClr val="FFFFFF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4412994" cy="2041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33261" y="455680"/>
            <a:ext cx="9745561" cy="4486271"/>
          </a:xfrm>
          <a:custGeom>
            <a:avLst/>
            <a:gdLst/>
            <a:ahLst/>
            <a:cxnLst/>
            <a:rect r="r" b="b" t="t" l="l"/>
            <a:pathLst>
              <a:path h="4486271" w="9745561">
                <a:moveTo>
                  <a:pt x="0" y="0"/>
                </a:moveTo>
                <a:lnTo>
                  <a:pt x="9745560" y="0"/>
                </a:lnTo>
                <a:lnTo>
                  <a:pt x="9745560" y="4486271"/>
                </a:lnTo>
                <a:lnTo>
                  <a:pt x="0" y="448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79" t="-18192" r="-643" b="-2513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0411" y="5143500"/>
            <a:ext cx="9021222" cy="4894378"/>
            <a:chOff x="0" y="0"/>
            <a:chExt cx="3904022" cy="2118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04021" cy="2118090"/>
            </a:xfrm>
            <a:custGeom>
              <a:avLst/>
              <a:gdLst/>
              <a:ahLst/>
              <a:cxnLst/>
              <a:rect r="r" b="b" t="t" l="l"/>
              <a:pathLst>
                <a:path h="2118090" w="3904021">
                  <a:moveTo>
                    <a:pt x="43768" y="0"/>
                  </a:moveTo>
                  <a:lnTo>
                    <a:pt x="3860254" y="0"/>
                  </a:lnTo>
                  <a:cubicBezTo>
                    <a:pt x="3871862" y="0"/>
                    <a:pt x="3882994" y="4611"/>
                    <a:pt x="3891202" y="12819"/>
                  </a:cubicBezTo>
                  <a:cubicBezTo>
                    <a:pt x="3899410" y="21027"/>
                    <a:pt x="3904021" y="32160"/>
                    <a:pt x="3904021" y="43768"/>
                  </a:cubicBezTo>
                  <a:lnTo>
                    <a:pt x="3904021" y="2074322"/>
                  </a:lnTo>
                  <a:cubicBezTo>
                    <a:pt x="3904021" y="2098494"/>
                    <a:pt x="3884426" y="2118090"/>
                    <a:pt x="3860254" y="2118090"/>
                  </a:cubicBezTo>
                  <a:lnTo>
                    <a:pt x="43768" y="2118090"/>
                  </a:lnTo>
                  <a:cubicBezTo>
                    <a:pt x="32160" y="2118090"/>
                    <a:pt x="21027" y="2113479"/>
                    <a:pt x="12819" y="2105271"/>
                  </a:cubicBezTo>
                  <a:cubicBezTo>
                    <a:pt x="4611" y="2097063"/>
                    <a:pt x="0" y="2085930"/>
                    <a:pt x="0" y="2074322"/>
                  </a:cubicBezTo>
                  <a:lnTo>
                    <a:pt x="0" y="43768"/>
                  </a:lnTo>
                  <a:cubicBezTo>
                    <a:pt x="0" y="32160"/>
                    <a:pt x="4611" y="21027"/>
                    <a:pt x="12819" y="12819"/>
                  </a:cubicBezTo>
                  <a:cubicBezTo>
                    <a:pt x="21027" y="4611"/>
                    <a:pt x="32160" y="0"/>
                    <a:pt x="43768" y="0"/>
                  </a:cubicBezTo>
                  <a:close/>
                </a:path>
              </a:pathLst>
            </a:custGeom>
            <a:solidFill>
              <a:srgbClr val="131B1F">
                <a:alpha val="81961"/>
              </a:srgbClr>
            </a:solidFill>
            <a:ln w="19050" cap="rnd">
              <a:solidFill>
                <a:srgbClr val="FFFFFF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76200"/>
              <a:ext cx="3904022" cy="2041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2311" y="5267877"/>
            <a:ext cx="8504574" cy="4645623"/>
          </a:xfrm>
          <a:custGeom>
            <a:avLst/>
            <a:gdLst/>
            <a:ahLst/>
            <a:cxnLst/>
            <a:rect r="r" b="b" t="t" l="l"/>
            <a:pathLst>
              <a:path h="4645623" w="8504574">
                <a:moveTo>
                  <a:pt x="0" y="0"/>
                </a:moveTo>
                <a:lnTo>
                  <a:pt x="8504573" y="0"/>
                </a:lnTo>
                <a:lnTo>
                  <a:pt x="8504573" y="4645624"/>
                </a:lnTo>
                <a:lnTo>
                  <a:pt x="0" y="46456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4435961" y="1926882"/>
            <a:ext cx="407759" cy="278093"/>
            <a:chOff x="0" y="0"/>
            <a:chExt cx="2771140" cy="18899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35961" y="2728800"/>
            <a:ext cx="407759" cy="278093"/>
            <a:chOff x="0" y="0"/>
            <a:chExt cx="2771140" cy="18899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435961" y="3530718"/>
            <a:ext cx="407759" cy="278093"/>
            <a:chOff x="0" y="0"/>
            <a:chExt cx="2771140" cy="18899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435961" y="4332635"/>
            <a:ext cx="407759" cy="278093"/>
            <a:chOff x="0" y="0"/>
            <a:chExt cx="2771140" cy="18899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4435961" y="5134553"/>
            <a:ext cx="407759" cy="278093"/>
            <a:chOff x="0" y="0"/>
            <a:chExt cx="2771140" cy="18899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435961" y="5936471"/>
            <a:ext cx="407759" cy="278093"/>
            <a:chOff x="0" y="0"/>
            <a:chExt cx="2771140" cy="18899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4435961" y="6738389"/>
            <a:ext cx="407759" cy="278093"/>
            <a:chOff x="0" y="0"/>
            <a:chExt cx="2771140" cy="18899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B6B6B6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552311" y="7386430"/>
            <a:ext cx="1636643" cy="204259"/>
          </a:xfrm>
          <a:custGeom>
            <a:avLst/>
            <a:gdLst/>
            <a:ahLst/>
            <a:cxnLst/>
            <a:rect r="r" b="b" t="t" l="l"/>
            <a:pathLst>
              <a:path h="204259" w="1636643">
                <a:moveTo>
                  <a:pt x="0" y="0"/>
                </a:moveTo>
                <a:lnTo>
                  <a:pt x="1636642" y="0"/>
                </a:lnTo>
                <a:lnTo>
                  <a:pt x="1636642" y="204259"/>
                </a:lnTo>
                <a:lnTo>
                  <a:pt x="0" y="2042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944796" r="-425395" b="-125216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9398067" y="7609864"/>
            <a:ext cx="8760420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Synthetic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 stormy background generation 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(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SAM + SDXL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 + ControlNet)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Object preservation via hard copy compositing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Model training &amp; evaluation (4 models)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Robustness testing across 3 test sets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580159" y="428625"/>
            <a:ext cx="757832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Review Methodol</a:t>
            </a:r>
            <a:r>
              <a:rPr lang="en-US" b="true" sz="6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ogy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00310" y="1428750"/>
            <a:ext cx="4479060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input (Real + Labels)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74404" y="2230668"/>
            <a:ext cx="2930873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Masks (SAM)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46776" y="3032586"/>
            <a:ext cx="1786128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Depth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12025" y="3834504"/>
            <a:ext cx="5055631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SDXL Inpaint</a:t>
            </a:r>
            <a:r>
              <a:rPr lang="en-US" b="true" sz="24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+ControlNet</a:t>
            </a:r>
            <a:r>
              <a:rPr lang="ar-EG" b="true" sz="24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  <a:rtl val="true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20381" y="4636422"/>
            <a:ext cx="5238919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  <a:r>
              <a:rPr lang="en-US" b="true" sz="24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omposite (Preserve Objects)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07639" y="5438339"/>
            <a:ext cx="3064404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Paired Dataset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354740" y="6240257"/>
            <a:ext cx="2570200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YOLO Train</a:t>
            </a:r>
            <a:r>
              <a:rPr lang="ar-EG" b="true" sz="24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  <a:rtl val="true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97610" y="7042175"/>
            <a:ext cx="4484461" cy="41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 marL="0" indent="0" lvl="0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Metrics + Qualitative Results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76240">
            <a:off x="3798991" y="-4112312"/>
            <a:ext cx="10690019" cy="18511624"/>
          </a:xfrm>
          <a:custGeom>
            <a:avLst/>
            <a:gdLst/>
            <a:ahLst/>
            <a:cxnLst/>
            <a:rect r="r" b="b" t="t" l="l"/>
            <a:pathLst>
              <a:path h="18511624" w="10690019">
                <a:moveTo>
                  <a:pt x="405548" y="18511624"/>
                </a:moveTo>
                <a:lnTo>
                  <a:pt x="0" y="228121"/>
                </a:lnTo>
                <a:lnTo>
                  <a:pt x="10284470" y="0"/>
                </a:lnTo>
                <a:lnTo>
                  <a:pt x="10690018" y="18283503"/>
                </a:lnTo>
                <a:lnTo>
                  <a:pt x="405548" y="18511624"/>
                </a:lnTo>
                <a:close/>
              </a:path>
            </a:pathLst>
          </a:custGeom>
          <a:blipFill>
            <a:blip r:embed="rId2"/>
            <a:stretch>
              <a:fillRect l="-7686" t="0" r="-768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2120" y="2036040"/>
            <a:ext cx="7138440" cy="3350410"/>
          </a:xfrm>
          <a:custGeom>
            <a:avLst/>
            <a:gdLst/>
            <a:ahLst/>
            <a:cxnLst/>
            <a:rect r="r" b="b" t="t" l="l"/>
            <a:pathLst>
              <a:path h="3350410" w="7138440">
                <a:moveTo>
                  <a:pt x="0" y="0"/>
                </a:moveTo>
                <a:lnTo>
                  <a:pt x="7138440" y="0"/>
                </a:lnTo>
                <a:lnTo>
                  <a:pt x="7138440" y="3350410"/>
                </a:lnTo>
                <a:lnTo>
                  <a:pt x="0" y="3350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923" r="0" b="-992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245335" y="1262566"/>
            <a:ext cx="4450708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SYNTHETIC IMAGE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332120" y="5828955"/>
            <a:ext cx="7138440" cy="3316148"/>
          </a:xfrm>
          <a:custGeom>
            <a:avLst/>
            <a:gdLst/>
            <a:ahLst/>
            <a:cxnLst/>
            <a:rect r="r" b="b" t="t" l="l"/>
            <a:pathLst>
              <a:path h="3316148" w="7138440">
                <a:moveTo>
                  <a:pt x="0" y="0"/>
                </a:moveTo>
                <a:lnTo>
                  <a:pt x="7138440" y="0"/>
                </a:lnTo>
                <a:lnTo>
                  <a:pt x="7138440" y="3316148"/>
                </a:lnTo>
                <a:lnTo>
                  <a:pt x="0" y="3316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867" t="0" r="-4867" b="-3287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80746" y="2036040"/>
            <a:ext cx="6975134" cy="3343519"/>
          </a:xfrm>
          <a:custGeom>
            <a:avLst/>
            <a:gdLst/>
            <a:ahLst/>
            <a:cxnLst/>
            <a:rect r="r" b="b" t="t" l="l"/>
            <a:pathLst>
              <a:path h="3343519" w="6975134">
                <a:moveTo>
                  <a:pt x="0" y="0"/>
                </a:moveTo>
                <a:lnTo>
                  <a:pt x="6975134" y="0"/>
                </a:lnTo>
                <a:lnTo>
                  <a:pt x="6975134" y="3343519"/>
                </a:lnTo>
                <a:lnTo>
                  <a:pt x="0" y="33435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45" t="0" r="-545" b="-1862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80746" y="5788101"/>
            <a:ext cx="6975134" cy="3419913"/>
          </a:xfrm>
          <a:custGeom>
            <a:avLst/>
            <a:gdLst/>
            <a:ahLst/>
            <a:cxnLst/>
            <a:rect r="r" b="b" t="t" l="l"/>
            <a:pathLst>
              <a:path h="3419913" w="6975134">
                <a:moveTo>
                  <a:pt x="0" y="0"/>
                </a:moveTo>
                <a:lnTo>
                  <a:pt x="6975134" y="0"/>
                </a:lnTo>
                <a:lnTo>
                  <a:pt x="6975134" y="3419913"/>
                </a:lnTo>
                <a:lnTo>
                  <a:pt x="0" y="34199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768" r="0" b="-195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216825" y="46541"/>
            <a:ext cx="3854351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Exam</a:t>
            </a:r>
            <a:r>
              <a:rPr lang="en-US" b="true" sz="6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57361" y="1262566"/>
            <a:ext cx="3092711" cy="492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25"/>
              </a:lnSpc>
              <a:spcBef>
                <a:spcPct val="0"/>
              </a:spcBef>
            </a:pPr>
            <a:r>
              <a:rPr lang="en-US" b="true" sz="2732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O</a:t>
            </a:r>
            <a:r>
              <a:rPr lang="en-US" b="true" sz="2732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RIGINAL I</a:t>
            </a:r>
            <a:r>
              <a:rPr lang="en-US" b="true" sz="2732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MAGE</a:t>
            </a: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8945760" y="7019283"/>
            <a:ext cx="569290" cy="388258"/>
            <a:chOff x="0" y="0"/>
            <a:chExt cx="2771140" cy="18899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8941008" y="3672726"/>
            <a:ext cx="569290" cy="388258"/>
            <a:chOff x="0" y="0"/>
            <a:chExt cx="2771140" cy="18899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71140" cy="1889930"/>
            </a:xfrm>
            <a:custGeom>
              <a:avLst/>
              <a:gdLst/>
              <a:ahLst/>
              <a:cxnLst/>
              <a:rect r="r" b="b" t="t" l="l"/>
              <a:pathLst>
                <a:path h="1889930" w="2771140">
                  <a:moveTo>
                    <a:pt x="0" y="0"/>
                  </a:moveTo>
                  <a:lnTo>
                    <a:pt x="0" y="986960"/>
                  </a:lnTo>
                  <a:lnTo>
                    <a:pt x="1384300" y="1889930"/>
                  </a:lnTo>
                  <a:lnTo>
                    <a:pt x="2771140" y="986960"/>
                  </a:lnTo>
                  <a:lnTo>
                    <a:pt x="2771140" y="0"/>
                  </a:lnTo>
                  <a:close/>
                </a:path>
              </a:pathLst>
            </a:custGeom>
            <a:solidFill>
              <a:srgbClr val="F1F2F2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76240">
            <a:off x="3798991" y="-4112312"/>
            <a:ext cx="10690019" cy="18511624"/>
          </a:xfrm>
          <a:custGeom>
            <a:avLst/>
            <a:gdLst/>
            <a:ahLst/>
            <a:cxnLst/>
            <a:rect r="r" b="b" t="t" l="l"/>
            <a:pathLst>
              <a:path h="18511624" w="10690019">
                <a:moveTo>
                  <a:pt x="405548" y="18511624"/>
                </a:moveTo>
                <a:lnTo>
                  <a:pt x="0" y="228121"/>
                </a:lnTo>
                <a:lnTo>
                  <a:pt x="10284470" y="0"/>
                </a:lnTo>
                <a:lnTo>
                  <a:pt x="10690018" y="18283503"/>
                </a:lnTo>
                <a:lnTo>
                  <a:pt x="405548" y="18511624"/>
                </a:lnTo>
                <a:close/>
              </a:path>
            </a:pathLst>
          </a:custGeom>
          <a:blipFill>
            <a:blip r:embed="rId2"/>
            <a:stretch>
              <a:fillRect l="-7686" t="0" r="-768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86545" y="5294628"/>
            <a:ext cx="9176913" cy="4683561"/>
            <a:chOff x="0" y="0"/>
            <a:chExt cx="3454214" cy="17629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54214" cy="1762905"/>
            </a:xfrm>
            <a:custGeom>
              <a:avLst/>
              <a:gdLst/>
              <a:ahLst/>
              <a:cxnLst/>
              <a:rect r="r" b="b" t="t" l="l"/>
              <a:pathLst>
                <a:path h="1762905" w="3454214">
                  <a:moveTo>
                    <a:pt x="43025" y="0"/>
                  </a:moveTo>
                  <a:lnTo>
                    <a:pt x="3411189" y="0"/>
                  </a:lnTo>
                  <a:cubicBezTo>
                    <a:pt x="3434951" y="0"/>
                    <a:pt x="3454214" y="19263"/>
                    <a:pt x="3454214" y="43025"/>
                  </a:cubicBezTo>
                  <a:lnTo>
                    <a:pt x="3454214" y="1719880"/>
                  </a:lnTo>
                  <a:cubicBezTo>
                    <a:pt x="3454214" y="1731291"/>
                    <a:pt x="3449681" y="1742234"/>
                    <a:pt x="3441612" y="1750303"/>
                  </a:cubicBezTo>
                  <a:cubicBezTo>
                    <a:pt x="3433544" y="1758372"/>
                    <a:pt x="3422600" y="1762905"/>
                    <a:pt x="3411189" y="1762905"/>
                  </a:cubicBezTo>
                  <a:lnTo>
                    <a:pt x="43025" y="1762905"/>
                  </a:lnTo>
                  <a:cubicBezTo>
                    <a:pt x="19263" y="1762905"/>
                    <a:pt x="0" y="1743642"/>
                    <a:pt x="0" y="1719880"/>
                  </a:cubicBezTo>
                  <a:lnTo>
                    <a:pt x="0" y="43025"/>
                  </a:lnTo>
                  <a:cubicBezTo>
                    <a:pt x="0" y="19263"/>
                    <a:pt x="19263" y="0"/>
                    <a:pt x="43025" y="0"/>
                  </a:cubicBezTo>
                  <a:close/>
                </a:path>
              </a:pathLst>
            </a:custGeom>
            <a:solidFill>
              <a:srgbClr val="131B1F">
                <a:alpha val="81961"/>
              </a:srgbClr>
            </a:solidFill>
            <a:ln w="19050" cap="rnd">
              <a:solidFill>
                <a:srgbClr val="FFFFFF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3454214" cy="1686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6288" y="5299394"/>
            <a:ext cx="8136722" cy="4683561"/>
            <a:chOff x="0" y="0"/>
            <a:chExt cx="3062684" cy="17629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62684" cy="1762905"/>
            </a:xfrm>
            <a:custGeom>
              <a:avLst/>
              <a:gdLst/>
              <a:ahLst/>
              <a:cxnLst/>
              <a:rect r="r" b="b" t="t" l="l"/>
              <a:pathLst>
                <a:path h="1762905" w="3062684">
                  <a:moveTo>
                    <a:pt x="48525" y="0"/>
                  </a:moveTo>
                  <a:lnTo>
                    <a:pt x="3014158" y="0"/>
                  </a:lnTo>
                  <a:cubicBezTo>
                    <a:pt x="3040958" y="0"/>
                    <a:pt x="3062684" y="21726"/>
                    <a:pt x="3062684" y="48525"/>
                  </a:cubicBezTo>
                  <a:lnTo>
                    <a:pt x="3062684" y="1714380"/>
                  </a:lnTo>
                  <a:cubicBezTo>
                    <a:pt x="3062684" y="1727249"/>
                    <a:pt x="3057571" y="1739592"/>
                    <a:pt x="3048471" y="1748692"/>
                  </a:cubicBezTo>
                  <a:cubicBezTo>
                    <a:pt x="3039370" y="1757793"/>
                    <a:pt x="3027028" y="1762905"/>
                    <a:pt x="3014158" y="1762905"/>
                  </a:cubicBezTo>
                  <a:lnTo>
                    <a:pt x="48525" y="1762905"/>
                  </a:lnTo>
                  <a:cubicBezTo>
                    <a:pt x="35656" y="1762905"/>
                    <a:pt x="23313" y="1757793"/>
                    <a:pt x="14213" y="1748692"/>
                  </a:cubicBezTo>
                  <a:cubicBezTo>
                    <a:pt x="5112" y="1739592"/>
                    <a:pt x="0" y="1727249"/>
                    <a:pt x="0" y="1714380"/>
                  </a:cubicBezTo>
                  <a:lnTo>
                    <a:pt x="0" y="48525"/>
                  </a:lnTo>
                  <a:cubicBezTo>
                    <a:pt x="0" y="35656"/>
                    <a:pt x="5112" y="23313"/>
                    <a:pt x="14213" y="14213"/>
                  </a:cubicBezTo>
                  <a:cubicBezTo>
                    <a:pt x="23313" y="5112"/>
                    <a:pt x="35656" y="0"/>
                    <a:pt x="48525" y="0"/>
                  </a:cubicBezTo>
                  <a:close/>
                </a:path>
              </a:pathLst>
            </a:custGeom>
            <a:solidFill>
              <a:srgbClr val="131B1F">
                <a:alpha val="81961"/>
              </a:srgbClr>
            </a:solidFill>
            <a:ln w="19050" cap="rnd">
              <a:solidFill>
                <a:srgbClr val="FFFFFF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76200"/>
              <a:ext cx="3062684" cy="1686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345653"/>
            <a:ext cx="8919458" cy="4900222"/>
            <a:chOff x="0" y="0"/>
            <a:chExt cx="3099253" cy="17026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99253" cy="1702685"/>
            </a:xfrm>
            <a:custGeom>
              <a:avLst/>
              <a:gdLst/>
              <a:ahLst/>
              <a:cxnLst/>
              <a:rect r="r" b="b" t="t" l="l"/>
              <a:pathLst>
                <a:path h="1702685" w="3099253">
                  <a:moveTo>
                    <a:pt x="44267" y="0"/>
                  </a:moveTo>
                  <a:lnTo>
                    <a:pt x="3054986" y="0"/>
                  </a:lnTo>
                  <a:cubicBezTo>
                    <a:pt x="3079434" y="0"/>
                    <a:pt x="3099253" y="19819"/>
                    <a:pt x="3099253" y="44267"/>
                  </a:cubicBezTo>
                  <a:lnTo>
                    <a:pt x="3099253" y="1658418"/>
                  </a:lnTo>
                  <a:cubicBezTo>
                    <a:pt x="3099253" y="1682866"/>
                    <a:pt x="3079434" y="1702685"/>
                    <a:pt x="3054986" y="1702685"/>
                  </a:cubicBezTo>
                  <a:lnTo>
                    <a:pt x="44267" y="1702685"/>
                  </a:lnTo>
                  <a:cubicBezTo>
                    <a:pt x="19819" y="1702685"/>
                    <a:pt x="0" y="1682866"/>
                    <a:pt x="0" y="1658418"/>
                  </a:cubicBezTo>
                  <a:lnTo>
                    <a:pt x="0" y="44267"/>
                  </a:lnTo>
                  <a:cubicBezTo>
                    <a:pt x="0" y="19819"/>
                    <a:pt x="19819" y="0"/>
                    <a:pt x="44267" y="0"/>
                  </a:cubicBezTo>
                  <a:close/>
                </a:path>
              </a:pathLst>
            </a:custGeom>
            <a:solidFill>
              <a:srgbClr val="131B1F">
                <a:alpha val="81961"/>
              </a:srgbClr>
            </a:solidFill>
            <a:ln w="19050" cap="rnd">
              <a:solidFill>
                <a:srgbClr val="FFFFFF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76200"/>
              <a:ext cx="3099253" cy="16264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871686" y="423233"/>
            <a:ext cx="8034390" cy="4720267"/>
          </a:xfrm>
          <a:custGeom>
            <a:avLst/>
            <a:gdLst/>
            <a:ahLst/>
            <a:cxnLst/>
            <a:rect r="r" b="b" t="t" l="l"/>
            <a:pathLst>
              <a:path h="4720267" w="8034390">
                <a:moveTo>
                  <a:pt x="0" y="0"/>
                </a:moveTo>
                <a:lnTo>
                  <a:pt x="8034391" y="0"/>
                </a:lnTo>
                <a:lnTo>
                  <a:pt x="8034391" y="4720267"/>
                </a:lnTo>
                <a:lnTo>
                  <a:pt x="0" y="4720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60" t="-328" r="0" b="-32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29745" y="5468071"/>
            <a:ext cx="8776332" cy="4346207"/>
          </a:xfrm>
          <a:custGeom>
            <a:avLst/>
            <a:gdLst/>
            <a:ahLst/>
            <a:cxnLst/>
            <a:rect r="r" b="b" t="t" l="l"/>
            <a:pathLst>
              <a:path h="4346207" w="8776332">
                <a:moveTo>
                  <a:pt x="0" y="0"/>
                </a:moveTo>
                <a:lnTo>
                  <a:pt x="8776332" y="0"/>
                </a:lnTo>
                <a:lnTo>
                  <a:pt x="8776332" y="4346207"/>
                </a:lnTo>
                <a:lnTo>
                  <a:pt x="0" y="43462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4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8009" y="5371162"/>
            <a:ext cx="6396978" cy="4611794"/>
          </a:xfrm>
          <a:custGeom>
            <a:avLst/>
            <a:gdLst/>
            <a:ahLst/>
            <a:cxnLst/>
            <a:rect r="r" b="b" t="t" l="l"/>
            <a:pathLst>
              <a:path h="4611794" w="6396978">
                <a:moveTo>
                  <a:pt x="0" y="0"/>
                </a:moveTo>
                <a:lnTo>
                  <a:pt x="6396977" y="0"/>
                </a:lnTo>
                <a:lnTo>
                  <a:pt x="6396977" y="4611794"/>
                </a:lnTo>
                <a:lnTo>
                  <a:pt x="0" y="46117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448" r="0" b="-7027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02373" y="466725"/>
            <a:ext cx="2752576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Results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6288" y="4123657"/>
            <a:ext cx="852662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Sy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n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th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etic a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u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g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m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en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tation dramatic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al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ly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 i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m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pr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oves storm 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d</a:t>
            </a: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etection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2373" y="1660740"/>
            <a:ext cx="2978682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3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 Model Selection: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2373" y="3438074"/>
            <a:ext cx="4137967" cy="44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6"/>
              </a:lnSpc>
              <a:spcBef>
                <a:spcPct val="0"/>
              </a:spcBef>
            </a:pPr>
            <a:r>
              <a:rPr lang="en-US" sz="2626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mAP@0.5 =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 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0.709 (r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eal)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40341" y="3438074"/>
            <a:ext cx="4072575" cy="44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6"/>
              </a:lnSpc>
              <a:spcBef>
                <a:spcPct val="0"/>
              </a:spcBef>
            </a:pPr>
            <a:r>
              <a:rPr lang="en-US" sz="2626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mAP@0.5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 = 0.6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71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 (s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torm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y)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2937059"/>
            <a:ext cx="54329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Mixed Model Final Performance: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2180805"/>
            <a:ext cx="7461945" cy="447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76"/>
              </a:lnSpc>
              <a:spcBef>
                <a:spcPct val="0"/>
              </a:spcBef>
            </a:pPr>
            <a:r>
              <a:rPr lang="en-US" sz="2626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Mixed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 </a:t>
            </a:r>
            <a:r>
              <a:rPr lang="en-US" sz="2626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(Real+Synthetic) achieves best robustness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76240">
            <a:off x="3798991" y="-4112312"/>
            <a:ext cx="10690019" cy="18511624"/>
          </a:xfrm>
          <a:custGeom>
            <a:avLst/>
            <a:gdLst/>
            <a:ahLst/>
            <a:cxnLst/>
            <a:rect r="r" b="b" t="t" l="l"/>
            <a:pathLst>
              <a:path h="18511624" w="10690019">
                <a:moveTo>
                  <a:pt x="405548" y="18511624"/>
                </a:moveTo>
                <a:lnTo>
                  <a:pt x="0" y="228121"/>
                </a:lnTo>
                <a:lnTo>
                  <a:pt x="10284470" y="0"/>
                </a:lnTo>
                <a:lnTo>
                  <a:pt x="10690018" y="18283503"/>
                </a:lnTo>
                <a:lnTo>
                  <a:pt x="405548" y="18511624"/>
                </a:lnTo>
                <a:close/>
              </a:path>
            </a:pathLst>
          </a:custGeom>
          <a:blipFill>
            <a:blip r:embed="rId2"/>
            <a:stretch>
              <a:fillRect l="-7686" t="0" r="-768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0280" y="1975391"/>
            <a:ext cx="16746828" cy="4515713"/>
            <a:chOff x="0" y="0"/>
            <a:chExt cx="6303550" cy="16997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03551" cy="1699726"/>
            </a:xfrm>
            <a:custGeom>
              <a:avLst/>
              <a:gdLst/>
              <a:ahLst/>
              <a:cxnLst/>
              <a:rect r="r" b="b" t="t" l="l"/>
              <a:pathLst>
                <a:path h="1699726" w="6303551">
                  <a:moveTo>
                    <a:pt x="23577" y="0"/>
                  </a:moveTo>
                  <a:lnTo>
                    <a:pt x="6279974" y="0"/>
                  </a:lnTo>
                  <a:cubicBezTo>
                    <a:pt x="6292995" y="0"/>
                    <a:pt x="6303551" y="10556"/>
                    <a:pt x="6303551" y="23577"/>
                  </a:cubicBezTo>
                  <a:lnTo>
                    <a:pt x="6303551" y="1676149"/>
                  </a:lnTo>
                  <a:cubicBezTo>
                    <a:pt x="6303551" y="1682402"/>
                    <a:pt x="6301067" y="1688399"/>
                    <a:pt x="6296645" y="1692821"/>
                  </a:cubicBezTo>
                  <a:cubicBezTo>
                    <a:pt x="6292223" y="1697242"/>
                    <a:pt x="6286227" y="1699726"/>
                    <a:pt x="6279974" y="1699726"/>
                  </a:cubicBezTo>
                  <a:lnTo>
                    <a:pt x="23577" y="1699726"/>
                  </a:lnTo>
                  <a:cubicBezTo>
                    <a:pt x="17324" y="1699726"/>
                    <a:pt x="11327" y="1697242"/>
                    <a:pt x="6906" y="1692821"/>
                  </a:cubicBezTo>
                  <a:cubicBezTo>
                    <a:pt x="2484" y="1688399"/>
                    <a:pt x="0" y="1682402"/>
                    <a:pt x="0" y="1676149"/>
                  </a:cubicBezTo>
                  <a:lnTo>
                    <a:pt x="0" y="23577"/>
                  </a:lnTo>
                  <a:cubicBezTo>
                    <a:pt x="0" y="17324"/>
                    <a:pt x="2484" y="11327"/>
                    <a:pt x="6906" y="6906"/>
                  </a:cubicBezTo>
                  <a:cubicBezTo>
                    <a:pt x="11327" y="2484"/>
                    <a:pt x="17324" y="0"/>
                    <a:pt x="23577" y="0"/>
                  </a:cubicBezTo>
                  <a:close/>
                </a:path>
              </a:pathLst>
            </a:custGeom>
            <a:solidFill>
              <a:srgbClr val="131B1F">
                <a:alpha val="81961"/>
              </a:srgbClr>
            </a:solidFill>
            <a:ln w="19050" cap="rnd">
              <a:solidFill>
                <a:srgbClr val="FFFFFF">
                  <a:alpha val="81961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76200"/>
              <a:ext cx="6303550" cy="1623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04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77591" y="5282382"/>
            <a:ext cx="745337" cy="726364"/>
          </a:xfrm>
          <a:custGeom>
            <a:avLst/>
            <a:gdLst/>
            <a:ahLst/>
            <a:cxnLst/>
            <a:rect r="r" b="b" t="t" l="l"/>
            <a:pathLst>
              <a:path h="726364" w="745337">
                <a:moveTo>
                  <a:pt x="0" y="0"/>
                </a:moveTo>
                <a:lnTo>
                  <a:pt x="745337" y="0"/>
                </a:lnTo>
                <a:lnTo>
                  <a:pt x="745337" y="726365"/>
                </a:lnTo>
                <a:lnTo>
                  <a:pt x="0" y="726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503486" y="3124661"/>
            <a:ext cx="695715" cy="695715"/>
          </a:xfrm>
          <a:custGeom>
            <a:avLst/>
            <a:gdLst/>
            <a:ahLst/>
            <a:cxnLst/>
            <a:rect r="r" b="b" t="t" l="l"/>
            <a:pathLst>
              <a:path h="695715" w="695715">
                <a:moveTo>
                  <a:pt x="0" y="0"/>
                </a:moveTo>
                <a:lnTo>
                  <a:pt x="695715" y="0"/>
                </a:lnTo>
                <a:lnTo>
                  <a:pt x="695715" y="695715"/>
                </a:lnTo>
                <a:lnTo>
                  <a:pt x="0" y="695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46401" y="373063"/>
            <a:ext cx="10395198" cy="114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rtl="true">
              <a:lnSpc>
                <a:spcPts val="9100"/>
              </a:lnSpc>
            </a:pPr>
            <a:r>
              <a:rPr lang="en-US" b="true" sz="6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  <a:r>
              <a:rPr lang="en-US" b="true" sz="65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onclusion &amp; Future Work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8982" y="5049617"/>
            <a:ext cx="7178506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Demo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nstrated effectiveness: Synthetic data augmentation achieves x10 improvement over COCO baseline and +18% on synthetic test vs fair comparison.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9130" y="3601508"/>
            <a:ext cx="7203761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Improved detec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tion robustness: Mixed model shows only 5% performance drop on stormy images vs 28% for Real-only models (6x improvement).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03486" y="2150575"/>
            <a:ext cx="562478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REMAINING CHALLENGES: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5253" y="7408381"/>
            <a:ext cx="7632234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Improve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 wave realism with physics-based simulation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Add more atmospheric 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ffec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t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s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 (rain, fog, mist)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Fine-tune SAM for maritime-specific segmentation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Expand to night-time and low-visibility conditions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Test on real stormy footage when available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89130" y="2227443"/>
            <a:ext cx="7559408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Alef Bold"/>
                <a:ea typeface="Alef Bold"/>
                <a:cs typeface="Alef Bold"/>
                <a:sym typeface="Alef Bold"/>
              </a:rPr>
              <a:t>The pipeline successfully implements an end-to-end system for synthetic stormy sea data generation, enabling robust maritime object detection under adverse conditions.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77591" y="2320792"/>
            <a:ext cx="745337" cy="726364"/>
          </a:xfrm>
          <a:custGeom>
            <a:avLst/>
            <a:gdLst/>
            <a:ahLst/>
            <a:cxnLst/>
            <a:rect r="r" b="b" t="t" l="l"/>
            <a:pathLst>
              <a:path h="726364" w="745337">
                <a:moveTo>
                  <a:pt x="0" y="0"/>
                </a:moveTo>
                <a:lnTo>
                  <a:pt x="745337" y="0"/>
                </a:lnTo>
                <a:lnTo>
                  <a:pt x="745337" y="726365"/>
                </a:lnTo>
                <a:lnTo>
                  <a:pt x="0" y="7263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77591" y="3639608"/>
            <a:ext cx="745337" cy="726364"/>
          </a:xfrm>
          <a:custGeom>
            <a:avLst/>
            <a:gdLst/>
            <a:ahLst/>
            <a:cxnLst/>
            <a:rect r="r" b="b" t="t" l="l"/>
            <a:pathLst>
              <a:path h="726364" w="745337">
                <a:moveTo>
                  <a:pt x="0" y="0"/>
                </a:moveTo>
                <a:lnTo>
                  <a:pt x="745337" y="0"/>
                </a:lnTo>
                <a:lnTo>
                  <a:pt x="745337" y="726364"/>
                </a:lnTo>
                <a:lnTo>
                  <a:pt x="0" y="7263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118873" y="6732647"/>
            <a:ext cx="507114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IMP</a:t>
            </a:r>
            <a:r>
              <a:rPr lang="en-US" b="true" sz="30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ROVEMENT ACTION</a:t>
            </a:r>
            <a:r>
              <a:rPr lang="en-US" b="true" sz="30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23867" y="7408381"/>
            <a:ext cx="802464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Try larger YOLO models (YOLOv8m, YOLOv8l)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Experi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ment with different synthetic-to-real ratio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s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Ad</a:t>
            </a: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d temporal consistency for video processing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 strike="noStrike" u="none">
                <a:solidFill>
                  <a:srgbClr val="FDFDFD"/>
                </a:solidFill>
                <a:latin typeface="Alef Bold"/>
                <a:ea typeface="Alef Bold"/>
                <a:cs typeface="Alef Bold"/>
                <a:sym typeface="Alef Bold"/>
              </a:rPr>
              <a:t>Cross-dataset validation with other maritime datasets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37487" y="6732647"/>
            <a:ext cx="539332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ADDITIONAL EXPE</a:t>
            </a:r>
            <a:r>
              <a:rPr lang="en-US" b="true" sz="3000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RIMENT</a:t>
            </a:r>
            <a:r>
              <a:rPr lang="en-US" b="true" sz="3000" strike="noStrike" u="none">
                <a:solidFill>
                  <a:srgbClr val="FFD166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503486" y="4228105"/>
            <a:ext cx="695715" cy="695715"/>
          </a:xfrm>
          <a:custGeom>
            <a:avLst/>
            <a:gdLst/>
            <a:ahLst/>
            <a:cxnLst/>
            <a:rect r="r" b="b" t="t" l="l"/>
            <a:pathLst>
              <a:path h="695715" w="695715">
                <a:moveTo>
                  <a:pt x="0" y="0"/>
                </a:moveTo>
                <a:lnTo>
                  <a:pt x="695715" y="0"/>
                </a:lnTo>
                <a:lnTo>
                  <a:pt x="695715" y="695715"/>
                </a:lnTo>
                <a:lnTo>
                  <a:pt x="0" y="6957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389701" y="4159355"/>
            <a:ext cx="6898174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V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er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y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 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s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m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all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 ob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jec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ts 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(&lt;20px) may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 h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ave m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ino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r art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i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fact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s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 aft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e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r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 co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mpos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itin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389701" y="3086561"/>
            <a:ext cx="7245983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Ge</a:t>
            </a:r>
            <a:r>
              <a:rPr lang="en-US" sz="2199" strike="noStrike" u="none">
                <a:solidFill>
                  <a:srgbClr val="FFD166"/>
                </a:solidFill>
                <a:latin typeface="Alef Bold"/>
                <a:ea typeface="Alef Bold"/>
                <a:cs typeface="Alef Bold"/>
                <a:sym typeface="Alef Bold"/>
              </a:rPr>
              <a:t>nerated storms may lack extreme wave physics accuracy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DAG--e7BO2k</dc:identifier>
  <dcterms:modified xsi:type="dcterms:W3CDTF">2011-08-01T06:04:30Z</dcterms:modified>
  <cp:revision>1</cp:revision>
  <dc:title>STORMVISION</dc:title>
</cp:coreProperties>
</file>