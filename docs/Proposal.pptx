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DM Sans" pitchFamily="2" charset="0"/>
      <p:regular r:id="rId7"/>
      <p:bold r:id="rId8"/>
      <p:italic r:id="rId9"/>
      <p:boldItalic r:id="rId10"/>
    </p:embeddedFont>
    <p:embeddedFont>
      <p:font typeface="DM Sans Bold" pitchFamily="2" charset="0"/>
      <p:regular r:id="rId11"/>
      <p:bold r:id="rId12"/>
    </p:embeddedFont>
    <p:embeddedFont>
      <p:font typeface="Georgia Pro" panose="02040502050405020303" pitchFamily="18" charset="0"/>
      <p:regular r:id="rId13"/>
      <p:bold r:id="rId14"/>
      <p:italic r:id="rId15"/>
      <p:boldItalic r:id="rId16"/>
    </p:embeddedFont>
    <p:embeddedFont>
      <p:font typeface="Georgia Pro Light" panose="02040302050405020303" pitchFamily="18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75"/>
    <a:srgbClr val="007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597" autoAdjust="0"/>
  </p:normalViewPr>
  <p:slideViewPr>
    <p:cSldViewPr>
      <p:cViewPr varScale="1">
        <p:scale>
          <a:sx n="76" d="100"/>
          <a:sy n="76" d="100"/>
        </p:scale>
        <p:origin x="3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3400" y="800100"/>
            <a:ext cx="8458201" cy="7680316"/>
            <a:chOff x="-48591" y="-714375"/>
            <a:chExt cx="11277601" cy="10240421"/>
          </a:xfrm>
        </p:grpSpPr>
        <p:sp>
          <p:nvSpPr>
            <p:cNvPr id="5" name="TextBox 5"/>
            <p:cNvSpPr txBox="1"/>
            <p:nvPr/>
          </p:nvSpPr>
          <p:spPr>
            <a:xfrm>
              <a:off x="154609" y="-714375"/>
              <a:ext cx="9664700" cy="1795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dirty="0">
                  <a:solidFill>
                    <a:srgbClr val="F0F5F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StormVision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48591" y="7010399"/>
              <a:ext cx="11277601" cy="2515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 u="sng" dirty="0">
                  <a:solidFill>
                    <a:srgbClr val="F0F5F9"/>
                  </a:solidFill>
                  <a:latin typeface="Georgia Pro" panose="02040502050405020303" pitchFamily="18" charset="0"/>
                  <a:ea typeface="DM Sans"/>
                  <a:cs typeface="DM Sans"/>
                  <a:sym typeface="DM Sans"/>
                </a:rPr>
                <a:t>Presenter</a:t>
              </a:r>
              <a:r>
                <a:rPr lang="en-US" sz="3599" dirty="0">
                  <a:solidFill>
                    <a:srgbClr val="F0F5F9"/>
                  </a:solidFill>
                  <a:latin typeface="Georgia Pro" panose="02040502050405020303" pitchFamily="18" charset="0"/>
                  <a:ea typeface="DM Sans"/>
                  <a:cs typeface="DM Sans"/>
                  <a:sym typeface="DM Sans"/>
                </a:rPr>
                <a:t>: </a:t>
              </a:r>
            </a:p>
            <a:p>
              <a:pPr marL="0" lvl="0" indent="0" algn="l">
                <a:lnSpc>
                  <a:spcPts val="5039"/>
                </a:lnSpc>
              </a:pPr>
              <a:r>
                <a:rPr lang="en-US" sz="3600" dirty="0">
                  <a:solidFill>
                    <a:srgbClr val="F0F5F9"/>
                  </a:solidFill>
                  <a:latin typeface="Georgia Pro" panose="02040502050405020303" pitchFamily="18" charset="0"/>
                  <a:ea typeface="DM Sans"/>
                  <a:cs typeface="DM Sans"/>
                  <a:sym typeface="DM Sans"/>
                </a:rPr>
                <a:t>Tomer Atia, Shalev Cohen, Noam Hadad</a:t>
              </a:r>
            </a:p>
            <a:p>
              <a:pPr marL="0" lvl="0" indent="0" algn="l">
                <a:lnSpc>
                  <a:spcPts val="5039"/>
                </a:lnSpc>
              </a:pPr>
              <a:endParaRPr lang="en-US" sz="3599" dirty="0">
                <a:solidFill>
                  <a:srgbClr val="F0F5F9"/>
                </a:solidFill>
                <a:latin typeface="Georgia Pro" panose="02040502050405020303" pitchFamily="18" charset="0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EFB8CDC-692A-0B89-2C16-56CAE8AABCD8}"/>
              </a:ext>
            </a:extLst>
          </p:cNvPr>
          <p:cNvSpPr txBox="1"/>
          <p:nvPr/>
        </p:nvSpPr>
        <p:spPr>
          <a:xfrm>
            <a:off x="761999" y="2146622"/>
            <a:ext cx="7096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Georgia Pro" panose="020F0502020204030204" pitchFamily="18" charset="0"/>
              </a:rPr>
              <a:t>GenAI-Based Person-in-Water Detection in Rough Seas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2E2109B6-574D-5028-4717-25FA1E1DAE02}"/>
              </a:ext>
            </a:extLst>
          </p:cNvPr>
          <p:cNvSpPr/>
          <p:nvPr/>
        </p:nvSpPr>
        <p:spPr>
          <a:xfrm>
            <a:off x="9296400" y="34787"/>
            <a:ext cx="8991600" cy="10287000"/>
          </a:xfrm>
          <a:custGeom>
            <a:avLst/>
            <a:gdLst/>
            <a:ahLst/>
            <a:cxnLst/>
            <a:rect l="l" t="t" r="r" b="b"/>
            <a:pathLst>
              <a:path w="1035548" h="1184737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>
            <a:blip r:embed="rId2"/>
            <a:stretch>
              <a:fillRect t="-8202" b="-8202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751" y="0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Motivation and Use Case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38958" y="3885361"/>
            <a:ext cx="6788447" cy="3370691"/>
            <a:chOff x="-32415" y="-47625"/>
            <a:chExt cx="7652511" cy="3199505"/>
          </a:xfrm>
        </p:grpSpPr>
        <p:sp>
          <p:nvSpPr>
            <p:cNvPr id="8" name="TextBox 8"/>
            <p:cNvSpPr txBox="1"/>
            <p:nvPr/>
          </p:nvSpPr>
          <p:spPr>
            <a:xfrm>
              <a:off x="-32415" y="697857"/>
              <a:ext cx="5753100" cy="2454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" sz="2800" dirty="0">
                  <a:solidFill>
                    <a:srgbClr val="F0F5F9"/>
                  </a:solidFill>
                  <a:latin typeface="DM Sans"/>
                </a:rPr>
                <a:t>• Most datasets contain only </a:t>
              </a:r>
              <a:r>
                <a:rPr lang="he-IL" sz="2800" dirty="0">
                  <a:solidFill>
                    <a:srgbClr val="F0F5F9"/>
                  </a:solidFill>
                  <a:latin typeface="DM Sans"/>
                </a:rPr>
                <a:t> </a:t>
              </a:r>
              <a:r>
                <a:rPr lang="en" sz="2800" dirty="0">
                  <a:solidFill>
                    <a:srgbClr val="F0F5F9"/>
                  </a:solidFill>
                  <a:latin typeface="DM Sans"/>
                </a:rPr>
                <a:t>calm-sea images.</a:t>
              </a:r>
              <a:endParaRPr lang="he-IL" sz="2800" dirty="0">
                <a:solidFill>
                  <a:srgbClr val="F0F5F9"/>
                </a:solidFill>
                <a:latin typeface="DM Sans"/>
              </a:endParaRPr>
            </a:p>
            <a:p>
              <a:endParaRPr lang="en" sz="2800" dirty="0">
                <a:solidFill>
                  <a:srgbClr val="F0F5F9"/>
                </a:solidFill>
                <a:latin typeface="DM Sans"/>
              </a:endParaRPr>
            </a:p>
            <a:p>
              <a:r>
                <a:rPr lang="en" sz="2800" dirty="0">
                  <a:solidFill>
                    <a:srgbClr val="F0F5F9"/>
                  </a:solidFill>
                  <a:latin typeface="DM Sans"/>
                </a:rPr>
                <a:t>• Rough-sea scenes are missing due to the danger of filming real storms.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620096" cy="4260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LIMITATIONS OF CURRENT DATASETS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6983" y="3775379"/>
            <a:ext cx="7720011" cy="3049786"/>
            <a:chOff x="0" y="-47625"/>
            <a:chExt cx="10293348" cy="406638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146175"/>
              <a:ext cx="10293348" cy="28725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" sz="2800" dirty="0">
                  <a:solidFill>
                    <a:srgbClr val="F0F5F9"/>
                  </a:solidFill>
                  <a:latin typeface="DM Sans"/>
                </a:rPr>
                <a:t>• Generate synthetic rough-sea images to fill the gap in real storm data.</a:t>
              </a:r>
              <a:endParaRPr lang="he-IL" sz="2800" dirty="0">
                <a:solidFill>
                  <a:srgbClr val="F0F5F9"/>
                </a:solidFill>
                <a:latin typeface="DM Sans"/>
              </a:endParaRPr>
            </a:p>
            <a:p>
              <a:endParaRPr lang="en" sz="2800" dirty="0">
                <a:solidFill>
                  <a:srgbClr val="F0F5F9"/>
                </a:solidFill>
                <a:latin typeface="DM Sans"/>
              </a:endParaRPr>
            </a:p>
            <a:p>
              <a:r>
                <a:rPr lang="en" sz="2800" dirty="0">
                  <a:solidFill>
                    <a:srgbClr val="F0F5F9"/>
                  </a:solidFill>
                  <a:latin typeface="DM Sans"/>
                </a:rPr>
                <a:t>• Test whether this synthetic data can improve detection in challenging conditions.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937889" cy="5984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PROJECT GOALS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6983" y="2049595"/>
            <a:ext cx="18041017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" sz="3200" dirty="0">
                <a:solidFill>
                  <a:schemeClr val="bg1"/>
                </a:solidFill>
                <a:latin typeface="Georgia Pro" panose="02040502050405020303" pitchFamily="18" charset="0"/>
              </a:rPr>
              <a:t>This project tackles the challenge of detecting people in the water during rough sea conditions, where visibility is low and failures are most likely.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E4EDF60-7350-04ED-C396-24D2B6DADFB7}"/>
              </a:ext>
            </a:extLst>
          </p:cNvPr>
          <p:cNvSpPr txBox="1"/>
          <p:nvPr/>
        </p:nvSpPr>
        <p:spPr>
          <a:xfrm>
            <a:off x="7488695" y="7417403"/>
            <a:ext cx="203630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DM Sans" pitchFamily="2" charset="0"/>
              </a:rPr>
              <a:t>NOVELTY</a:t>
            </a:r>
            <a:endParaRPr lang="he-IL" sz="28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853073A-E052-452E-101C-E950EE9EC281}"/>
              </a:ext>
            </a:extLst>
          </p:cNvPr>
          <p:cNvSpPr txBox="1"/>
          <p:nvPr/>
        </p:nvSpPr>
        <p:spPr>
          <a:xfrm>
            <a:off x="2790490" y="8109900"/>
            <a:ext cx="1295400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800" dirty="0">
                <a:solidFill>
                  <a:schemeClr val="bg1"/>
                </a:solidFill>
                <a:latin typeface="DM Sans" pitchFamily="2" charset="0"/>
              </a:rPr>
              <a:t>• No real rough-sea images exist due to the danger of filming storms.</a:t>
            </a:r>
          </a:p>
          <a:p>
            <a:r>
              <a:rPr lang="en" sz="2800" dirty="0">
                <a:solidFill>
                  <a:schemeClr val="bg1"/>
                </a:solidFill>
                <a:latin typeface="DM Sans" pitchFamily="2" charset="0"/>
              </a:rPr>
              <a:t>• Create synthetic storm images with GenAI to fill this gap.</a:t>
            </a:r>
          </a:p>
          <a:p>
            <a:r>
              <a:rPr lang="en" sz="2800" dirty="0">
                <a:solidFill>
                  <a:schemeClr val="bg1"/>
                </a:solidFill>
                <a:latin typeface="DM Sans" pitchFamily="2" charset="0"/>
              </a:rPr>
              <a:t>• Evaluate whether this improves detection in extreme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ML Task Definition and Objectives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8600" y="4222980"/>
            <a:ext cx="6164200" cy="2652993"/>
            <a:chOff x="0" y="-47625"/>
            <a:chExt cx="8218933" cy="3537325"/>
          </a:xfrm>
        </p:grpSpPr>
        <p:sp>
          <p:nvSpPr>
            <p:cNvPr id="5" name="TextBox 5"/>
            <p:cNvSpPr txBox="1"/>
            <p:nvPr/>
          </p:nvSpPr>
          <p:spPr>
            <a:xfrm>
              <a:off x="0" y="1191634"/>
              <a:ext cx="8218933" cy="22980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800" b="1" dirty="0">
                  <a:solidFill>
                    <a:schemeClr val="bg1"/>
                  </a:solidFill>
                  <a:latin typeface="DM Sans" pitchFamily="2" charset="0"/>
                </a:rPr>
                <a:t>Input</a:t>
              </a: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: RGB drone image</a:t>
              </a:r>
              <a:r>
                <a:rPr lang="he-IL" sz="2800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  <a:latin typeface="DM Sans" pitchFamily="2" charset="0"/>
                </a:rPr>
                <a:t>of sea</a:t>
              </a: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" sz="2800" b="1" dirty="0">
                  <a:solidFill>
                    <a:schemeClr val="bg1"/>
                  </a:solidFill>
                  <a:latin typeface="DM Sans" pitchFamily="2" charset="0"/>
                </a:rPr>
                <a:t>Output</a:t>
              </a: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: Binary label: </a:t>
              </a:r>
              <a:endParaRPr lang="he-IL" sz="28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0 = no person</a:t>
              </a:r>
              <a:endParaRPr lang="he-IL" sz="28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914400" lvl="1" indent="-457200">
                <a:buFont typeface="Courier New" panose="02070309020205020404" pitchFamily="49" charset="0"/>
                <a:buChar char="o"/>
              </a:pP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 1 = person in water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753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r>
                <a:rPr lang="en-US" sz="2600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INPUT&amp; OUTPUT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68200" y="4248140"/>
            <a:ext cx="6172200" cy="3495326"/>
            <a:chOff x="-847227" y="-67106"/>
            <a:chExt cx="8229600" cy="4660434"/>
          </a:xfrm>
        </p:grpSpPr>
        <p:sp>
          <p:nvSpPr>
            <p:cNvPr id="8" name="TextBox 8"/>
            <p:cNvSpPr txBox="1"/>
            <p:nvPr/>
          </p:nvSpPr>
          <p:spPr>
            <a:xfrm>
              <a:off x="0" y="1146231"/>
              <a:ext cx="7382373" cy="34470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" sz="2800" dirty="0" err="1">
                  <a:solidFill>
                    <a:schemeClr val="bg1"/>
                  </a:solidFill>
                  <a:latin typeface="DM Sans" pitchFamily="2" charset="0"/>
                </a:rPr>
                <a:t>EfficientNet</a:t>
              </a:r>
              <a:r>
                <a:rPr lang="he-IL" sz="2800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B0 (pretrained)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Lightweight, easy to fine-tune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Good for small datasets and small objects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" sz="2800" dirty="0">
                  <a:solidFill>
                    <a:schemeClr val="bg1"/>
                  </a:solidFill>
                  <a:latin typeface="DM Sans" pitchFamily="2" charset="0"/>
                </a:rPr>
                <a:t>Ideal for aerial drone imagery</a:t>
              </a:r>
            </a:p>
            <a:p>
              <a:endParaRPr lang="en" sz="2800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847227" y="-67106"/>
              <a:ext cx="6422177" cy="595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r>
                <a:rPr lang="en" sz="2800" b="1" dirty="0">
                  <a:solidFill>
                    <a:schemeClr val="bg1"/>
                  </a:solidFill>
                  <a:latin typeface="DM Sans" pitchFamily="2" charset="0"/>
                </a:rPr>
                <a:t>Classification Model</a:t>
              </a:r>
              <a:endParaRPr lang="en-US" sz="2600" b="1" dirty="0">
                <a:solidFill>
                  <a:schemeClr val="bg1"/>
                </a:solidFill>
                <a:latin typeface="DM Sans" pitchFamily="2" charset="0"/>
                <a:ea typeface="DM Sans Bold"/>
                <a:cs typeface="DM Sans Bold"/>
                <a:sym typeface="DM Sans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8600" y="2169659"/>
            <a:ext cx="1762125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" sz="3200" dirty="0">
                <a:solidFill>
                  <a:schemeClr val="bg1"/>
                </a:solidFill>
                <a:latin typeface="Georgia Pro" panose="02040502050405020303" pitchFamily="18" charset="0"/>
              </a:rPr>
              <a:t>The project performs a binary classification task to detect whether a person is present in the water using aerial drone images.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39A97EC-5C52-7ECB-E4A5-BD73E03BC473}"/>
              </a:ext>
            </a:extLst>
          </p:cNvPr>
          <p:cNvSpPr txBox="1"/>
          <p:nvPr/>
        </p:nvSpPr>
        <p:spPr>
          <a:xfrm>
            <a:off x="13487400" y="4248140"/>
            <a:ext cx="32766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2800" b="1" dirty="0">
                <a:solidFill>
                  <a:schemeClr val="bg1"/>
                </a:solidFill>
                <a:latin typeface="DM Sans" pitchFamily="2" charset="0"/>
              </a:rPr>
              <a:t>Training Method</a:t>
            </a:r>
            <a:endParaRPr lang="he-IL" sz="280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44BF9D3-4E33-98F0-3C91-CE771E85CEF7}"/>
              </a:ext>
            </a:extLst>
          </p:cNvPr>
          <p:cNvSpPr txBox="1"/>
          <p:nvPr/>
        </p:nvSpPr>
        <p:spPr>
          <a:xfrm>
            <a:off x="13487400" y="5118372"/>
            <a:ext cx="45720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chemeClr val="bg1"/>
                </a:solidFill>
                <a:latin typeface="DM Sans" pitchFamily="2" charset="0"/>
              </a:rPr>
              <a:t>Replace head → 2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chemeClr val="bg1"/>
                </a:solidFill>
                <a:latin typeface="DM Sans" pitchFamily="2" charset="0"/>
              </a:rPr>
              <a:t>Partial fine-tuning of top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66750" y="733425"/>
            <a:ext cx="12724643" cy="114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Dataset &amp; Synthetic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700" y="2855480"/>
            <a:ext cx="92827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• We use a subset of a public maritime drone dataset</a:t>
            </a:r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  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(e.g., SeaDronesSee).</a:t>
            </a:r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• Contains calm-sea images with and without people.</a:t>
            </a:r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This real data serves as the base for generating synthetic</a:t>
            </a:r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 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rough-sea samples.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4247" y="2056907"/>
            <a:ext cx="2467353" cy="624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116"/>
              </a:lnSpc>
            </a:pPr>
            <a:r>
              <a:rPr lang="en-US" sz="3654" b="1" dirty="0">
                <a:solidFill>
                  <a:srgbClr val="F0F5F9"/>
                </a:solidFill>
                <a:latin typeface="DM Sans Bold"/>
                <a:ea typeface="DM Sans Bold"/>
                <a:cs typeface="DM Sans Bold"/>
                <a:sym typeface="DM Sans Bold"/>
              </a:rPr>
              <a:t> 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19439" y="6841973"/>
            <a:ext cx="8493702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• </a:t>
            </a: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Inpainting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</a:t>
            </a:r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-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keeps the real person, replaces the sea with a storm version.</a:t>
            </a:r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• </a:t>
            </a: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Full Generation </a:t>
            </a:r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-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creates fully synthetic rough</a:t>
            </a:r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-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sea scenes.</a:t>
            </a:r>
          </a:p>
          <a:p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Together they provide storm</a:t>
            </a:r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-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condition images missing from real data.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3200" y="6115674"/>
            <a:ext cx="3657600" cy="623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79"/>
              </a:lnSpc>
            </a:pPr>
            <a:r>
              <a:rPr lang="en-US" sz="3628" b="1" dirty="0">
                <a:solidFill>
                  <a:srgbClr val="F0F5F9"/>
                </a:solidFill>
                <a:latin typeface="DM Sans Bold"/>
                <a:ea typeface="DM Sans Bold"/>
                <a:cs typeface="DM Sans Bold"/>
                <a:sym typeface="DM Sans Bold"/>
              </a:rPr>
              <a:t>GENAI PIPELINE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C42B517-6902-D9F0-71F7-253ABE2362E7}"/>
              </a:ext>
            </a:extLst>
          </p:cNvPr>
          <p:cNvSpPr txBox="1"/>
          <p:nvPr/>
        </p:nvSpPr>
        <p:spPr>
          <a:xfrm>
            <a:off x="12198850" y="1955010"/>
            <a:ext cx="3429000" cy="6540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" sz="3650" b="1" dirty="0">
                <a:solidFill>
                  <a:schemeClr val="bg1"/>
                </a:solidFill>
                <a:latin typeface="DM Sans" pitchFamily="2" charset="0"/>
              </a:rPr>
              <a:t>DATA SPLITS</a:t>
            </a:r>
            <a:endParaRPr lang="he-IL" sz="3650" b="1" dirty="0">
              <a:solidFill>
                <a:schemeClr val="bg1"/>
              </a:solidFill>
              <a:latin typeface="DM Sans" pitchFamily="2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AD35A6BB-325E-1D35-9D8C-8E0DF020CCA4}"/>
              </a:ext>
            </a:extLst>
          </p:cNvPr>
          <p:cNvSpPr txBox="1"/>
          <p:nvPr/>
        </p:nvSpPr>
        <p:spPr>
          <a:xfrm>
            <a:off x="10210800" y="2681309"/>
            <a:ext cx="9144000" cy="432426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Real data</a:t>
            </a:r>
            <a:r>
              <a:rPr lang="he-IL" sz="2500" b="1" dirty="0">
                <a:solidFill>
                  <a:schemeClr val="bg1"/>
                </a:solidFill>
                <a:latin typeface="DM Sans" pitchFamily="2" charset="0"/>
              </a:rPr>
              <a:t> </a:t>
            </a:r>
            <a:r>
              <a:rPr lang="en-US" sz="2500" dirty="0">
                <a:solidFill>
                  <a:schemeClr val="bg1"/>
                </a:solidFill>
                <a:latin typeface="DM Sans" pitchFamily="2" charset="0"/>
              </a:rPr>
              <a:t>(calm sea)</a:t>
            </a:r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:</a:t>
            </a:r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he-IL" sz="2500" dirty="0">
                <a:solidFill>
                  <a:schemeClr val="bg1"/>
                </a:solidFill>
                <a:latin typeface="DM Sans" pitchFamily="2" charset="0"/>
              </a:rPr>
              <a:t>	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60% </a:t>
            </a:r>
            <a:r>
              <a:rPr lang="en" sz="2500" dirty="0" err="1">
                <a:solidFill>
                  <a:schemeClr val="bg1"/>
                </a:solidFill>
                <a:latin typeface="DM Sans" pitchFamily="2" charset="0"/>
              </a:rPr>
              <a:t>train_real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/ 20% </a:t>
            </a:r>
            <a:r>
              <a:rPr lang="en" sz="2500" dirty="0" err="1">
                <a:solidFill>
                  <a:schemeClr val="bg1"/>
                </a:solidFill>
                <a:latin typeface="DM Sans" pitchFamily="2" charset="0"/>
              </a:rPr>
              <a:t>val_real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/ 20% </a:t>
            </a:r>
            <a:r>
              <a:rPr lang="en" sz="2500" dirty="0" err="1">
                <a:solidFill>
                  <a:schemeClr val="bg1"/>
                </a:solidFill>
                <a:latin typeface="DM Sans" pitchFamily="2" charset="0"/>
              </a:rPr>
              <a:t>test_real</a:t>
            </a:r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Synthetic storm data</a:t>
            </a:r>
            <a:r>
              <a:rPr lang="he-IL" sz="2500" b="1" dirty="0">
                <a:solidFill>
                  <a:schemeClr val="bg1"/>
                </a:solidFill>
                <a:latin typeface="DM Sans" pitchFamily="2" charset="0"/>
              </a:rPr>
              <a:t> </a:t>
            </a:r>
            <a:r>
              <a:rPr lang="en-US" sz="2500" dirty="0">
                <a:solidFill>
                  <a:schemeClr val="bg1"/>
                </a:solidFill>
                <a:latin typeface="DM Sans" pitchFamily="2" charset="0"/>
              </a:rPr>
              <a:t>(for training)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:</a:t>
            </a:r>
          </a:p>
          <a:p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	 80% </a:t>
            </a:r>
            <a:r>
              <a:rPr lang="en" sz="2500" dirty="0" err="1">
                <a:solidFill>
                  <a:schemeClr val="bg1"/>
                </a:solidFill>
                <a:latin typeface="DM Sans" pitchFamily="2" charset="0"/>
              </a:rPr>
              <a:t>train_synth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 / 20% </a:t>
            </a:r>
            <a:r>
              <a:rPr lang="en" sz="2500" dirty="0" err="1">
                <a:solidFill>
                  <a:schemeClr val="bg1"/>
                </a:solidFill>
                <a:latin typeface="DM Sans" pitchFamily="2" charset="0"/>
              </a:rPr>
              <a:t>val_synth</a:t>
            </a:r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endParaRPr lang="he-IL" sz="2500" dirty="0">
              <a:solidFill>
                <a:schemeClr val="bg1"/>
              </a:solidFill>
              <a:latin typeface="DM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Synthetic Storm Data </a:t>
            </a:r>
            <a:r>
              <a:rPr lang="he-IL" sz="2500" b="1" dirty="0">
                <a:solidFill>
                  <a:schemeClr val="bg1"/>
                </a:solidFill>
                <a:latin typeface="DM Sans" pitchFamily="2" charset="0"/>
              </a:rPr>
              <a:t>-</a:t>
            </a:r>
            <a:r>
              <a:rPr lang="en" sz="2500" b="1" dirty="0">
                <a:solidFill>
                  <a:schemeClr val="bg1"/>
                </a:solidFill>
                <a:latin typeface="DM Sans" pitchFamily="2" charset="0"/>
              </a:rPr>
              <a:t> Test (Separate Set)</a:t>
            </a:r>
            <a:r>
              <a:rPr lang="he-IL" sz="2500" b="1" dirty="0">
                <a:solidFill>
                  <a:schemeClr val="bg1"/>
                </a:solidFill>
                <a:latin typeface="DM Sans" pitchFamily="2" charset="0"/>
              </a:rPr>
              <a:t>:</a:t>
            </a:r>
          </a:p>
          <a:p>
            <a:r>
              <a:rPr lang="he-IL" sz="2500" b="1" dirty="0">
                <a:solidFill>
                  <a:schemeClr val="bg1"/>
                </a:solidFill>
                <a:latin typeface="DM Sans" pitchFamily="2" charset="0"/>
              </a:rPr>
              <a:t>	</a:t>
            </a:r>
            <a:r>
              <a:rPr lang="en" sz="2500" dirty="0">
                <a:solidFill>
                  <a:schemeClr val="bg1"/>
                </a:solidFill>
                <a:latin typeface="DM Sans" pitchFamily="2" charset="0"/>
              </a:rPr>
              <a:t>100% </a:t>
            </a:r>
            <a:r>
              <a:rPr lang="en-US" sz="2500" dirty="0">
                <a:solidFill>
                  <a:schemeClr val="bg1"/>
                </a:solidFill>
                <a:latin typeface="DM Sans" pitchFamily="2" charset="0"/>
              </a:rPr>
              <a:t>t</a:t>
            </a:r>
            <a:r>
              <a:rPr lang="en" sz="2500" dirty="0" err="1">
                <a:solidFill>
                  <a:schemeClr val="bg1"/>
                </a:solidFill>
                <a:latin typeface="DM Sans" pitchFamily="2" charset="0"/>
              </a:rPr>
              <a:t>est_storm_synth</a:t>
            </a:r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r>
              <a:rPr lang="he-IL" sz="2500" i="1" dirty="0">
                <a:solidFill>
                  <a:schemeClr val="bg1"/>
                </a:solidFill>
                <a:latin typeface="DM Sans" pitchFamily="2" charset="0"/>
              </a:rPr>
              <a:t>	</a:t>
            </a:r>
            <a:r>
              <a:rPr lang="en" sz="2500" i="1" dirty="0">
                <a:solidFill>
                  <a:schemeClr val="bg1"/>
                </a:solidFill>
                <a:latin typeface="DM Sans" pitchFamily="2" charset="0"/>
              </a:rPr>
              <a:t>(Not used for training </a:t>
            </a:r>
            <a:r>
              <a:rPr lang="he-IL" sz="2500" i="1" dirty="0">
                <a:solidFill>
                  <a:schemeClr val="bg1"/>
                </a:solidFill>
                <a:latin typeface="DM Sans" pitchFamily="2" charset="0"/>
              </a:rPr>
              <a:t>-</a:t>
            </a:r>
            <a:r>
              <a:rPr lang="en" sz="2500" i="1" dirty="0">
                <a:solidFill>
                  <a:schemeClr val="bg1"/>
                </a:solidFill>
                <a:latin typeface="DM Sans" pitchFamily="2" charset="0"/>
              </a:rPr>
              <a:t> evaluation only)</a:t>
            </a:r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  <a:p>
            <a:endParaRPr lang="en" sz="2500" dirty="0">
              <a:solidFill>
                <a:schemeClr val="bg1"/>
              </a:solidFill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6750" y="733425"/>
            <a:ext cx="15821025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F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Evaluation and Metrics for Model Performance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00712" y="4188753"/>
            <a:ext cx="5753100" cy="4509566"/>
            <a:chOff x="-48524" y="-57150"/>
            <a:chExt cx="7670800" cy="3230758"/>
          </a:xfrm>
        </p:grpSpPr>
        <p:sp>
          <p:nvSpPr>
            <p:cNvPr id="5" name="TextBox 5"/>
            <p:cNvSpPr txBox="1"/>
            <p:nvPr/>
          </p:nvSpPr>
          <p:spPr>
            <a:xfrm>
              <a:off x="-48524" y="626853"/>
              <a:ext cx="7670800" cy="25467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" sz="2500" dirty="0">
                  <a:solidFill>
                    <a:schemeClr val="bg1"/>
                  </a:solidFill>
                  <a:latin typeface="DM Sans" pitchFamily="2" charset="0"/>
                </a:rPr>
                <a:t>Models are evaluated on two test sets: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500" b="1" dirty="0">
                  <a:solidFill>
                    <a:schemeClr val="bg1"/>
                  </a:solidFill>
                  <a:latin typeface="DM Sans" pitchFamily="2" charset="0"/>
                </a:rPr>
                <a:t>Test_real</a:t>
              </a:r>
              <a:r>
                <a:rPr lang="en" sz="2500" dirty="0">
                  <a:solidFill>
                    <a:schemeClr val="bg1"/>
                  </a:solidFill>
                  <a:latin typeface="DM Sans" pitchFamily="2" charset="0"/>
                </a:rPr>
                <a:t> (real calm-sea images)</a:t>
              </a:r>
              <a:endParaRPr lang="he-IL" sz="25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sz="25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500" b="1" dirty="0">
                  <a:solidFill>
                    <a:schemeClr val="bg1"/>
                  </a:solidFill>
                  <a:latin typeface="DM Sans" pitchFamily="2" charset="0"/>
                </a:rPr>
                <a:t>Test_storm_synth</a:t>
              </a:r>
              <a:r>
                <a:rPr lang="en" sz="2500" dirty="0">
                  <a:solidFill>
                    <a:schemeClr val="bg1"/>
                  </a:solidFill>
                  <a:latin typeface="DM Sans" pitchFamily="2" charset="0"/>
                </a:rPr>
                <a:t> (synthetic rough-sea images)</a:t>
              </a:r>
              <a:endParaRPr lang="he-IL" sz="25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he-IL" sz="2500" dirty="0">
                <a:solidFill>
                  <a:schemeClr val="bg1"/>
                </a:solidFill>
                <a:latin typeface="DM Sans" pitchFamily="2" charset="0"/>
              </a:endParaRPr>
            </a:p>
            <a:p>
              <a:r>
                <a:rPr lang="en" sz="2500" dirty="0">
                  <a:solidFill>
                    <a:schemeClr val="bg1"/>
                  </a:solidFill>
                  <a:latin typeface="DM Sans" pitchFamily="2" charset="0"/>
                </a:rPr>
                <a:t>This shows how synthetic storm data affects performance.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he-IL" sz="2500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753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</a:pPr>
              <a:r>
                <a:rPr lang="en-US" sz="2999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TESTING FOCUS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77585" y="4188753"/>
            <a:ext cx="4314825" cy="3913664"/>
            <a:chOff x="0" y="-57150"/>
            <a:chExt cx="5753100" cy="5218219"/>
          </a:xfrm>
        </p:grpSpPr>
        <p:sp>
          <p:nvSpPr>
            <p:cNvPr id="8" name="TextBox 8"/>
            <p:cNvSpPr txBox="1"/>
            <p:nvPr/>
          </p:nvSpPr>
          <p:spPr>
            <a:xfrm>
              <a:off x="0" y="1221529"/>
              <a:ext cx="5753100" cy="3939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400" b="1" u="sng" dirty="0">
                  <a:solidFill>
                    <a:schemeClr val="bg1"/>
                  </a:solidFill>
                  <a:latin typeface="DM Sans" pitchFamily="2" charset="0"/>
                </a:rPr>
                <a:t>Model A</a:t>
              </a:r>
              <a:r>
                <a:rPr lang="he-IL" sz="2400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-US" sz="2400" b="1" dirty="0">
                  <a:solidFill>
                    <a:schemeClr val="bg1"/>
                  </a:solidFill>
                  <a:latin typeface="DM Sans" pitchFamily="2" charset="0"/>
                </a:rPr>
                <a:t>(</a:t>
              </a: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Baseline model):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 trained only on real calm</a:t>
              </a:r>
              <a:r>
                <a:rPr lang="he-IL" sz="2400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sea data</a:t>
              </a:r>
              <a:endParaRPr lang="he-IL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400" b="1" u="sng" dirty="0">
                  <a:solidFill>
                    <a:schemeClr val="bg1"/>
                  </a:solidFill>
                  <a:latin typeface="DM Sans" pitchFamily="2" charset="0"/>
                </a:rPr>
                <a:t>Model B</a:t>
              </a: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(Storm model):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 trained on real + synthetic rough</a:t>
              </a:r>
              <a:r>
                <a:rPr lang="he-IL" sz="2400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sea data</a:t>
              </a:r>
              <a:b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</a:br>
              <a:endParaRPr lang="en" sz="2400" dirty="0">
                <a:solidFill>
                  <a:schemeClr val="bg1"/>
                </a:solidFill>
                <a:latin typeface="DM Sans" pitchFamily="2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753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</a:pPr>
              <a:r>
                <a:rPr lang="en-US" sz="2999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COMPARISON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4188753"/>
            <a:ext cx="6115050" cy="5021660"/>
            <a:chOff x="0" y="-57150"/>
            <a:chExt cx="5753100" cy="669554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221528"/>
              <a:ext cx="5753100" cy="5416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Key metrics: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Accuracy </a:t>
              </a:r>
              <a:r>
                <a:rPr lang="he-IL" sz="2400" b="1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overall correctness</a:t>
              </a:r>
              <a:endParaRPr lang="he-IL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sz="24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Recall </a:t>
              </a:r>
              <a:r>
                <a:rPr lang="he-IL" sz="2400" b="1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how many real “person in water” cases were detected</a:t>
              </a:r>
              <a:endParaRPr lang="he-IL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sz="24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Precision </a:t>
              </a:r>
              <a:r>
                <a:rPr lang="he-IL" sz="2400" b="1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how many detections were correct</a:t>
              </a:r>
              <a:endParaRPr lang="he-IL" sz="2400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" sz="2400" b="1" dirty="0">
                <a:solidFill>
                  <a:schemeClr val="bg1"/>
                </a:solidFill>
                <a:latin typeface="DM Sans" pitchFamily="2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F1 score </a:t>
              </a:r>
              <a:r>
                <a:rPr lang="he-IL" sz="2400" b="1" dirty="0">
                  <a:solidFill>
                    <a:schemeClr val="bg1"/>
                  </a:solidFill>
                  <a:latin typeface="DM Sans" pitchFamily="2" charset="0"/>
                </a:rPr>
                <a:t>-</a:t>
              </a:r>
              <a:r>
                <a:rPr lang="en" sz="2400" b="1" dirty="0">
                  <a:solidFill>
                    <a:schemeClr val="bg1"/>
                  </a:solidFill>
                  <a:latin typeface="DM Sans" pitchFamily="2" charset="0"/>
                </a:rPr>
                <a:t> </a:t>
              </a:r>
              <a:r>
                <a:rPr lang="en" sz="2400" dirty="0">
                  <a:solidFill>
                    <a:schemeClr val="bg1"/>
                  </a:solidFill>
                  <a:latin typeface="DM Sans" pitchFamily="2" charset="0"/>
                </a:rPr>
                <a:t>balance between precision and recall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753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</a:pPr>
              <a:r>
                <a:rPr lang="en-US" sz="2999" b="1" dirty="0">
                  <a:solidFill>
                    <a:srgbClr val="F0F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EVALUATION METRICS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510</Words>
  <Application>Microsoft Macintosh PowerPoint</Application>
  <PresentationFormat>מותאם אישית</PresentationFormat>
  <Paragraphs>78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3" baseType="lpstr">
      <vt:lpstr>Georgia Pro Light</vt:lpstr>
      <vt:lpstr>Georgia Pro</vt:lpstr>
      <vt:lpstr>DM Sans Bold</vt:lpstr>
      <vt:lpstr>DM Sans</vt:lpstr>
      <vt:lpstr>Courier New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Stormy Seas</dc:title>
  <dc:description>Presentation - Stormy Seas</dc:description>
  <cp:lastModifiedBy>תומר עטיה</cp:lastModifiedBy>
  <cp:revision>17</cp:revision>
  <dcterms:created xsi:type="dcterms:W3CDTF">2006-08-16T00:00:00Z</dcterms:created>
  <dcterms:modified xsi:type="dcterms:W3CDTF">2025-12-24T06:22:16Z</dcterms:modified>
  <dc:identifier>DAG6Kokl9Zk</dc:identifier>
</cp:coreProperties>
</file>